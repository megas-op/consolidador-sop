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310.xml" ContentType="application/vnd.openxmlformats-officedocument.presentationml.tags+xml"/>
  <Override PartName="/ppt/tags/tag337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99" r:id="rId4"/>
  </p:sldMasterIdLst>
  <p:sldIdLst>
    <p:sldId id="324" r:id="rId5"/>
    <p:sldId id="2147473671" r:id="rId6"/>
    <p:sldId id="2147473661" r:id="rId90"/>
    <p:sldId id="2147377416" r:id="rId91"/>
    <p:sldId id="2147470019" r:id="rId92"/>
    <p:sldId id="2147377353" r:id="rId93"/>
    <p:sldId id="2147470020" r:id="rId94"/>
    <p:sldId id="2147470018" r:id="rId95"/>
    <p:sldId id="2147470021" r:id="rId96"/>
    <p:sldId id="406" r:id="rId97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A6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03" Type="http://schemas.openxmlformats.org/officeDocument/2006/relationships/tableStyles" Target="tableStyles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94" Type="http://schemas.openxmlformats.org/officeDocument/2006/relationships/slide" Target="slides/slide90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7" Type="http://schemas.openxmlformats.org/officeDocument/2006/relationships/slide" Target="slides/slide93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100" Type="http://schemas.openxmlformats.org/officeDocument/2006/relationships/presProps" Target="presProps.xml"/><Relationship Id="rId93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.xml"/><Relationship Id="rId7" Type="http://schemas.openxmlformats.org/officeDocument/2006/relationships/oleObject" Target="../embeddings/oleObject2.bin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image" Target="../media/image3.emf"/><Relationship Id="rId4" Type="http://schemas.openxmlformats.org/officeDocument/2006/relationships/tags" Target="../tags/tag11.xml"/><Relationship Id="rId9" Type="http://schemas.openxmlformats.org/officeDocument/2006/relationships/oleObject" Target="../embeddings/oleObject3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37.xml"/><Relationship Id="rId7" Type="http://schemas.openxmlformats.org/officeDocument/2006/relationships/oleObject" Target="../embeddings/oleObject5.bin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Master" Target="../slideMasters/slideMaster2.xml"/><Relationship Id="rId11" Type="http://schemas.openxmlformats.org/officeDocument/2006/relationships/image" Target="../media/image7.png"/><Relationship Id="rId5" Type="http://schemas.openxmlformats.org/officeDocument/2006/relationships/tags" Target="../tags/tag39.xml"/><Relationship Id="rId10" Type="http://schemas.openxmlformats.org/officeDocument/2006/relationships/image" Target="../media/image4.png"/><Relationship Id="rId4" Type="http://schemas.openxmlformats.org/officeDocument/2006/relationships/tags" Target="../tags/tag38.xml"/><Relationship Id="rId9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3.emf"/><Relationship Id="rId4" Type="http://schemas.openxmlformats.org/officeDocument/2006/relationships/tags" Target="../tags/tag43.xml"/><Relationship Id="rId9" Type="http://schemas.openxmlformats.org/officeDocument/2006/relationships/oleObject" Target="../embeddings/oleObject3.bin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image" Target="../media/image4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3.emf"/><Relationship Id="rId5" Type="http://schemas.openxmlformats.org/officeDocument/2006/relationships/tags" Target="../tags/tag51.xml"/><Relationship Id="rId10" Type="http://schemas.openxmlformats.org/officeDocument/2006/relationships/oleObject" Target="../embeddings/oleObject6.bin"/><Relationship Id="rId4" Type="http://schemas.openxmlformats.org/officeDocument/2006/relationships/tags" Target="../tags/tag50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4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3.emf"/><Relationship Id="rId5" Type="http://schemas.openxmlformats.org/officeDocument/2006/relationships/tags" Target="../tags/tag59.xml"/><Relationship Id="rId10" Type="http://schemas.openxmlformats.org/officeDocument/2006/relationships/oleObject" Target="../embeddings/oleObject7.bin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../media/image4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3.emf"/><Relationship Id="rId5" Type="http://schemas.openxmlformats.org/officeDocument/2006/relationships/tags" Target="../tags/tag67.xml"/><Relationship Id="rId10" Type="http://schemas.openxmlformats.org/officeDocument/2006/relationships/oleObject" Target="../embeddings/oleObject8.bin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4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8.emf"/><Relationship Id="rId5" Type="http://schemas.openxmlformats.org/officeDocument/2006/relationships/tags" Target="../tags/tag75.xml"/><Relationship Id="rId10" Type="http://schemas.openxmlformats.org/officeDocument/2006/relationships/oleObject" Target="../embeddings/oleObject9.bin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4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image" Target="../media/image3.emf"/><Relationship Id="rId5" Type="http://schemas.openxmlformats.org/officeDocument/2006/relationships/tags" Target="../tags/tag83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82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89.xml"/><Relationship Id="rId7" Type="http://schemas.openxmlformats.org/officeDocument/2006/relationships/image" Target="../media/image5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oleObject" Target="../embeddings/oleObject11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tags" Target="../tags/tag9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10" Type="http://schemas.openxmlformats.org/officeDocument/2006/relationships/image" Target="../media/image9.png"/><Relationship Id="rId4" Type="http://schemas.openxmlformats.org/officeDocument/2006/relationships/tags" Target="../tags/tag94.xml"/><Relationship Id="rId9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99.xml"/><Relationship Id="rId7" Type="http://schemas.openxmlformats.org/officeDocument/2006/relationships/oleObject" Target="../embeddings/oleObject13.bin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0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0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10" Type="http://schemas.openxmlformats.org/officeDocument/2006/relationships/image" Target="../media/image13.png"/><Relationship Id="rId4" Type="http://schemas.openxmlformats.org/officeDocument/2006/relationships/tags" Target="../tags/tag106.xml"/><Relationship Id="rId9" Type="http://schemas.openxmlformats.org/officeDocument/2006/relationships/image" Target="../media/image5.emf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220.xml"/><Relationship Id="rId7" Type="http://schemas.openxmlformats.org/officeDocument/2006/relationships/oleObject" Target="../embeddings/oleObject30.bin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slideMaster" Target="../slideMasters/slideMaster4.xml"/><Relationship Id="rId11" Type="http://schemas.openxmlformats.org/officeDocument/2006/relationships/image" Target="../media/image7.png"/><Relationship Id="rId5" Type="http://schemas.openxmlformats.org/officeDocument/2006/relationships/tags" Target="../tags/tag222.xml"/><Relationship Id="rId10" Type="http://schemas.openxmlformats.org/officeDocument/2006/relationships/image" Target="../media/image4.png"/><Relationship Id="rId4" Type="http://schemas.openxmlformats.org/officeDocument/2006/relationships/tags" Target="../tags/tag221.xml"/><Relationship Id="rId9" Type="http://schemas.openxmlformats.org/officeDocument/2006/relationships/image" Target="../media/image6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10" Type="http://schemas.openxmlformats.org/officeDocument/2006/relationships/image" Target="../media/image3.emf"/><Relationship Id="rId4" Type="http://schemas.openxmlformats.org/officeDocument/2006/relationships/tags" Target="../tags/tag226.xml"/><Relationship Id="rId9" Type="http://schemas.openxmlformats.org/officeDocument/2006/relationships/oleObject" Target="../embeddings/oleObject31.bin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4.png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image" Target="../media/image3.emf"/><Relationship Id="rId5" Type="http://schemas.openxmlformats.org/officeDocument/2006/relationships/tags" Target="../tags/tag234.xml"/><Relationship Id="rId10" Type="http://schemas.openxmlformats.org/officeDocument/2006/relationships/oleObject" Target="../embeddings/oleObject32.bin"/><Relationship Id="rId4" Type="http://schemas.openxmlformats.org/officeDocument/2006/relationships/tags" Target="../tags/tag233.xml"/><Relationship Id="rId9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3" Type="http://schemas.openxmlformats.org/officeDocument/2006/relationships/tags" Target="../tags/tag240.xml"/><Relationship Id="rId7" Type="http://schemas.openxmlformats.org/officeDocument/2006/relationships/tags" Target="../tags/tag244.xml"/><Relationship Id="rId12" Type="http://schemas.openxmlformats.org/officeDocument/2006/relationships/image" Target="../media/image4.png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image" Target="../media/image3.emf"/><Relationship Id="rId5" Type="http://schemas.openxmlformats.org/officeDocument/2006/relationships/tags" Target="../tags/tag242.xml"/><Relationship Id="rId10" Type="http://schemas.openxmlformats.org/officeDocument/2006/relationships/oleObject" Target="../embeddings/oleObject33.bin"/><Relationship Id="rId4" Type="http://schemas.openxmlformats.org/officeDocument/2006/relationships/tags" Target="../tags/tag241.xml"/><Relationship Id="rId9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12" Type="http://schemas.openxmlformats.org/officeDocument/2006/relationships/image" Target="../media/image4.png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image" Target="../media/image3.emf"/><Relationship Id="rId5" Type="http://schemas.openxmlformats.org/officeDocument/2006/relationships/tags" Target="../tags/tag250.xml"/><Relationship Id="rId10" Type="http://schemas.openxmlformats.org/officeDocument/2006/relationships/oleObject" Target="../embeddings/oleObject34.bin"/><Relationship Id="rId4" Type="http://schemas.openxmlformats.org/officeDocument/2006/relationships/tags" Target="../tags/tag249.xml"/><Relationship Id="rId9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61.xml"/><Relationship Id="rId3" Type="http://schemas.openxmlformats.org/officeDocument/2006/relationships/tags" Target="../tags/tag256.xml"/><Relationship Id="rId7" Type="http://schemas.openxmlformats.org/officeDocument/2006/relationships/tags" Target="../tags/tag260.xml"/><Relationship Id="rId12" Type="http://schemas.openxmlformats.org/officeDocument/2006/relationships/image" Target="../media/image4.png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tags" Target="../tags/tag259.xml"/><Relationship Id="rId11" Type="http://schemas.openxmlformats.org/officeDocument/2006/relationships/image" Target="../media/image8.emf"/><Relationship Id="rId5" Type="http://schemas.openxmlformats.org/officeDocument/2006/relationships/tags" Target="../tags/tag258.xml"/><Relationship Id="rId10" Type="http://schemas.openxmlformats.org/officeDocument/2006/relationships/oleObject" Target="../embeddings/oleObject35.bin"/><Relationship Id="rId4" Type="http://schemas.openxmlformats.org/officeDocument/2006/relationships/tags" Target="../tags/tag257.xml"/><Relationship Id="rId9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3" Type="http://schemas.openxmlformats.org/officeDocument/2006/relationships/tags" Target="../tags/tag264.xml"/><Relationship Id="rId7" Type="http://schemas.openxmlformats.org/officeDocument/2006/relationships/tags" Target="../tags/tag268.xml"/><Relationship Id="rId12" Type="http://schemas.openxmlformats.org/officeDocument/2006/relationships/image" Target="../media/image4.png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image" Target="../media/image3.emf"/><Relationship Id="rId5" Type="http://schemas.openxmlformats.org/officeDocument/2006/relationships/tags" Target="../tags/tag266.xml"/><Relationship Id="rId10" Type="http://schemas.openxmlformats.org/officeDocument/2006/relationships/oleObject" Target="../embeddings/oleObject36.bin"/><Relationship Id="rId4" Type="http://schemas.openxmlformats.org/officeDocument/2006/relationships/tags" Target="../tags/tag265.xml"/><Relationship Id="rId9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72.xml"/><Relationship Id="rId7" Type="http://schemas.openxmlformats.org/officeDocument/2006/relationships/image" Target="../media/image5.emf"/><Relationship Id="rId2" Type="http://schemas.openxmlformats.org/officeDocument/2006/relationships/tags" Target="../tags/tag271.xml"/><Relationship Id="rId1" Type="http://schemas.openxmlformats.org/officeDocument/2006/relationships/tags" Target="../tags/tag270.xml"/><Relationship Id="rId6" Type="http://schemas.openxmlformats.org/officeDocument/2006/relationships/oleObject" Target="../embeddings/oleObject37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73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tags" Target="../tags/tag276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10" Type="http://schemas.openxmlformats.org/officeDocument/2006/relationships/image" Target="../media/image9.png"/><Relationship Id="rId4" Type="http://schemas.openxmlformats.org/officeDocument/2006/relationships/tags" Target="../tags/tag277.xml"/><Relationship Id="rId9" Type="http://schemas.openxmlformats.org/officeDocument/2006/relationships/image" Target="../media/image5.emf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282.xml"/><Relationship Id="rId7" Type="http://schemas.openxmlformats.org/officeDocument/2006/relationships/oleObject" Target="../embeddings/oleObject39.bin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9" Type="http://schemas.openxmlformats.org/officeDocument/2006/relationships/image" Target="../media/image10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28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3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97"/>
            </a:lvl1pPr>
            <a:lvl2pPr marL="456654" indent="0" algn="ctr">
              <a:buNone/>
              <a:defRPr sz="1998"/>
            </a:lvl2pPr>
            <a:lvl3pPr marL="913308" indent="0" algn="ctr">
              <a:buNone/>
              <a:defRPr sz="1798"/>
            </a:lvl3pPr>
            <a:lvl4pPr marL="1369962" indent="0" algn="ctr">
              <a:buNone/>
              <a:defRPr sz="1598"/>
            </a:lvl4pPr>
            <a:lvl5pPr marL="1826617" indent="0" algn="ctr">
              <a:buNone/>
              <a:defRPr sz="1598"/>
            </a:lvl5pPr>
            <a:lvl6pPr marL="2283271" indent="0" algn="ctr">
              <a:buNone/>
              <a:defRPr sz="1598"/>
            </a:lvl6pPr>
            <a:lvl7pPr marL="2739925" indent="0" algn="ctr">
              <a:buNone/>
              <a:defRPr sz="1598"/>
            </a:lvl7pPr>
            <a:lvl8pPr marL="3196578" indent="0" algn="ctr">
              <a:buNone/>
              <a:defRPr sz="1598"/>
            </a:lvl8pPr>
            <a:lvl9pPr marL="3653232" indent="0" algn="ctr">
              <a:buNone/>
              <a:defRPr sz="1598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05905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71601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3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397">
                <a:solidFill>
                  <a:schemeClr val="tx1">
                    <a:tint val="75000"/>
                  </a:schemeClr>
                </a:solidFill>
              </a:defRPr>
            </a:lvl1pPr>
            <a:lvl2pPr marL="456654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308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69962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6617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3271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3992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657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3232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401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31249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97" b="1"/>
            </a:lvl1pPr>
            <a:lvl2pPr marL="456654" indent="0">
              <a:buNone/>
              <a:defRPr sz="1998" b="1"/>
            </a:lvl2pPr>
            <a:lvl3pPr marL="913308" indent="0">
              <a:buNone/>
              <a:defRPr sz="1798" b="1"/>
            </a:lvl3pPr>
            <a:lvl4pPr marL="1369962" indent="0">
              <a:buNone/>
              <a:defRPr sz="1598" b="1"/>
            </a:lvl4pPr>
            <a:lvl5pPr marL="1826617" indent="0">
              <a:buNone/>
              <a:defRPr sz="1598" b="1"/>
            </a:lvl5pPr>
            <a:lvl6pPr marL="2283271" indent="0">
              <a:buNone/>
              <a:defRPr sz="1598" b="1"/>
            </a:lvl6pPr>
            <a:lvl7pPr marL="2739925" indent="0">
              <a:buNone/>
              <a:defRPr sz="1598" b="1"/>
            </a:lvl7pPr>
            <a:lvl8pPr marL="3196578" indent="0">
              <a:buNone/>
              <a:defRPr sz="1598" b="1"/>
            </a:lvl8pPr>
            <a:lvl9pPr marL="3653232" indent="0">
              <a:buNone/>
              <a:defRPr sz="1598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397" b="1"/>
            </a:lvl1pPr>
            <a:lvl2pPr marL="456654" indent="0">
              <a:buNone/>
              <a:defRPr sz="1998" b="1"/>
            </a:lvl2pPr>
            <a:lvl3pPr marL="913308" indent="0">
              <a:buNone/>
              <a:defRPr sz="1798" b="1"/>
            </a:lvl3pPr>
            <a:lvl4pPr marL="1369962" indent="0">
              <a:buNone/>
              <a:defRPr sz="1598" b="1"/>
            </a:lvl4pPr>
            <a:lvl5pPr marL="1826617" indent="0">
              <a:buNone/>
              <a:defRPr sz="1598" b="1"/>
            </a:lvl5pPr>
            <a:lvl6pPr marL="2283271" indent="0">
              <a:buNone/>
              <a:defRPr sz="1598" b="1"/>
            </a:lvl6pPr>
            <a:lvl7pPr marL="2739925" indent="0">
              <a:buNone/>
              <a:defRPr sz="1598" b="1"/>
            </a:lvl7pPr>
            <a:lvl8pPr marL="3196578" indent="0">
              <a:buNone/>
              <a:defRPr sz="1598" b="1"/>
            </a:lvl8pPr>
            <a:lvl9pPr marL="3653232" indent="0">
              <a:buNone/>
              <a:defRPr sz="1598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8677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58683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0680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6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196"/>
            </a:lvl1pPr>
            <a:lvl2pPr>
              <a:defRPr sz="2797"/>
            </a:lvl2pPr>
            <a:lvl3pPr>
              <a:defRPr sz="2397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598"/>
            </a:lvl1pPr>
            <a:lvl2pPr marL="456654" indent="0">
              <a:buNone/>
              <a:defRPr sz="1398"/>
            </a:lvl2pPr>
            <a:lvl3pPr marL="913308" indent="0">
              <a:buNone/>
              <a:defRPr sz="1198"/>
            </a:lvl3pPr>
            <a:lvl4pPr marL="1369962" indent="0">
              <a:buNone/>
              <a:defRPr sz="999"/>
            </a:lvl4pPr>
            <a:lvl5pPr marL="1826617" indent="0">
              <a:buNone/>
              <a:defRPr sz="999"/>
            </a:lvl5pPr>
            <a:lvl6pPr marL="2283271" indent="0">
              <a:buNone/>
              <a:defRPr sz="999"/>
            </a:lvl6pPr>
            <a:lvl7pPr marL="2739925" indent="0">
              <a:buNone/>
              <a:defRPr sz="999"/>
            </a:lvl7pPr>
            <a:lvl8pPr marL="3196578" indent="0">
              <a:buNone/>
              <a:defRPr sz="999"/>
            </a:lvl8pPr>
            <a:lvl9pPr marL="3653232" indent="0">
              <a:buNone/>
              <a:defRPr sz="999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4515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6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196"/>
            </a:lvl1pPr>
            <a:lvl2pPr marL="456654" indent="0">
              <a:buNone/>
              <a:defRPr sz="2797"/>
            </a:lvl2pPr>
            <a:lvl3pPr marL="913308" indent="0">
              <a:buNone/>
              <a:defRPr sz="2397"/>
            </a:lvl3pPr>
            <a:lvl4pPr marL="1369962" indent="0">
              <a:buNone/>
              <a:defRPr sz="1998"/>
            </a:lvl4pPr>
            <a:lvl5pPr marL="1826617" indent="0">
              <a:buNone/>
              <a:defRPr sz="1998"/>
            </a:lvl5pPr>
            <a:lvl6pPr marL="2283271" indent="0">
              <a:buNone/>
              <a:defRPr sz="1998"/>
            </a:lvl6pPr>
            <a:lvl7pPr marL="2739925" indent="0">
              <a:buNone/>
              <a:defRPr sz="1998"/>
            </a:lvl7pPr>
            <a:lvl8pPr marL="3196578" indent="0">
              <a:buNone/>
              <a:defRPr sz="1998"/>
            </a:lvl8pPr>
            <a:lvl9pPr marL="3653232" indent="0">
              <a:buNone/>
              <a:defRPr sz="1998"/>
            </a:lvl9pPr>
          </a:lstStyle>
          <a:p>
            <a:endParaRPr lang="es-U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598"/>
            </a:lvl1pPr>
            <a:lvl2pPr marL="456654" indent="0">
              <a:buNone/>
              <a:defRPr sz="1398"/>
            </a:lvl2pPr>
            <a:lvl3pPr marL="913308" indent="0">
              <a:buNone/>
              <a:defRPr sz="1198"/>
            </a:lvl3pPr>
            <a:lvl4pPr marL="1369962" indent="0">
              <a:buNone/>
              <a:defRPr sz="999"/>
            </a:lvl4pPr>
            <a:lvl5pPr marL="1826617" indent="0">
              <a:buNone/>
              <a:defRPr sz="999"/>
            </a:lvl5pPr>
            <a:lvl6pPr marL="2283271" indent="0">
              <a:buNone/>
              <a:defRPr sz="999"/>
            </a:lvl6pPr>
            <a:lvl7pPr marL="2739925" indent="0">
              <a:buNone/>
              <a:defRPr sz="999"/>
            </a:lvl7pPr>
            <a:lvl8pPr marL="3196578" indent="0">
              <a:buNone/>
              <a:defRPr sz="999"/>
            </a:lvl8pPr>
            <a:lvl9pPr marL="3653232" indent="0">
              <a:buNone/>
              <a:defRPr sz="999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00475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6265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694341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304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i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50387A0-138F-DB0C-68D8-AE925199F0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35122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421" imgH="420" progId="TCLayout.ActiveDocument.1">
                  <p:embed/>
                </p:oleObj>
              </mc:Choice>
              <mc:Fallback>
                <p:oleObj name="Diapositiva de think-cell" r:id="rId7" imgW="421" imgH="42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0387A0-138F-DB0C-68D8-AE925199F0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 6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UY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312046"/>
            <a:ext cx="11083923" cy="384721"/>
          </a:xfr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s-UY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UY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UY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UY" err="1">
                <a:solidFill>
                  <a:schemeClr val="accent4"/>
                </a:solidFill>
              </a:rPr>
              <a:t>Source</a:t>
            </a:r>
            <a:r>
              <a:rPr lang="es-UY">
                <a:solidFill>
                  <a:schemeClr val="accent4"/>
                </a:solidFill>
              </a:rPr>
              <a:t>: …</a:t>
            </a:r>
          </a:p>
        </p:txBody>
      </p:sp>
    </p:spTree>
    <p:extLst>
      <p:ext uri="{BB962C8B-B14F-4D97-AF65-F5344CB8AC3E}">
        <p14:creationId xmlns:p14="http://schemas.microsoft.com/office/powerpoint/2010/main" val="2717760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244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9" imgW="413" imgH="416" progId="TCLayout.ActiveDocument.1">
                  <p:embed/>
                </p:oleObj>
              </mc:Choice>
              <mc:Fallback>
                <p:oleObj name="Diapositiva de think-cell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12046"/>
            <a:ext cx="11083923" cy="384721"/>
          </a:xfr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732330"/>
            <a:ext cx="11083923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E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err="1">
                <a:solidFill>
                  <a:schemeClr val="accent4"/>
                </a:solidFill>
              </a:rPr>
              <a:t>Source</a:t>
            </a:r>
            <a:r>
              <a:rPr lang="es-ES">
                <a:solidFill>
                  <a:schemeClr val="accent4"/>
                </a:solidFill>
              </a:rPr>
              <a:t>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715675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8126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592" imgH="591" progId="TCLayout.ActiveDocument.1">
                  <p:embed/>
                </p:oleObj>
              </mc:Choice>
              <mc:Fallback>
                <p:oleObj name="Diapositiva de think-cell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00" name="Picture 80" descr="Megalabs la farmacéutica global de Latinoamérica">
            <a:extLst>
              <a:ext uri="{FF2B5EF4-FFF2-40B4-BE49-F238E27FC236}">
                <a16:creationId xmlns:a16="http://schemas.microsoft.com/office/drawing/2014/main" id="{EF03EEFF-7D5E-4243-B5D4-1E4EEA4D930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7" t="33974" r="8375" b="26710"/>
          <a:stretch/>
        </p:blipFill>
        <p:spPr bwMode="auto">
          <a:xfrm>
            <a:off x="457202" y="6048434"/>
            <a:ext cx="1418166" cy="30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Documenttype">
            <a:extLst>
              <a:ext uri="{FF2B5EF4-FFF2-40B4-BE49-F238E27FC236}">
                <a16:creationId xmlns:a16="http://schemas.microsoft.com/office/drawing/2014/main" id="{AA340622-568E-4746-ADE6-6A642F6DBCC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15086" y="4875312"/>
            <a:ext cx="3987340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1400" dirty="0">
                <a:solidFill>
                  <a:srgbClr val="545454"/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Edit</a:t>
            </a:r>
            <a:r>
              <a:rPr lang="es-ES"/>
              <a:t> date </a:t>
            </a:r>
            <a:r>
              <a:rPr lang="es-ES" err="1"/>
              <a:t>or</a:t>
            </a:r>
            <a:r>
              <a:rPr lang="es-ES"/>
              <a:t> </a:t>
            </a:r>
            <a:r>
              <a:rPr lang="es-ES" err="1"/>
              <a:t>title</a:t>
            </a:r>
            <a:r>
              <a:rPr lang="es-ES"/>
              <a:t>/role</a:t>
            </a:r>
          </a:p>
        </p:txBody>
      </p:sp>
      <p:sp>
        <p:nvSpPr>
          <p:cNvPr id="27" name="Subtitle">
            <a:extLst>
              <a:ext uri="{FF2B5EF4-FFF2-40B4-BE49-F238E27FC236}">
                <a16:creationId xmlns:a16="http://schemas.microsoft.com/office/drawing/2014/main" id="{22FB7AFD-E66A-5C40-9EA0-210DB41C718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15086" y="4422765"/>
            <a:ext cx="3987340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2000" dirty="0">
                <a:solidFill>
                  <a:srgbClr val="545454"/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AB6174FF-CD02-EC4A-9B67-40119C120FB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15086" y="2998157"/>
            <a:ext cx="3987340" cy="12054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 anchorCtr="0">
            <a:spAutoFit/>
          </a:bodyPr>
          <a:lstStyle>
            <a:lvl1pPr rtl="0">
              <a:lnSpc>
                <a:spcPts val="4680"/>
              </a:lnSpc>
              <a:defRPr lang="en-US" sz="4000" dirty="0">
                <a:solidFill>
                  <a:srgbClr val="545454"/>
                </a:solidFill>
              </a:defRPr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EE7208-D53D-48E5-B4C7-FAC07B5D6F3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515706"/>
            <a:ext cx="1961895" cy="649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9C86FE-2F7A-4C30-AF31-05538623BE42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2762" y="0"/>
            <a:ext cx="7089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86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244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9" imgW="413" imgH="416" progId="TCLayout.ActiveDocument.1">
                  <p:embed/>
                </p:oleObj>
              </mc:Choice>
              <mc:Fallback>
                <p:oleObj name="Diapositiva de think-cell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12046"/>
            <a:ext cx="11083923" cy="384721"/>
          </a:xfr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732330"/>
            <a:ext cx="11083923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E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err="1">
                <a:solidFill>
                  <a:schemeClr val="accent4"/>
                </a:solidFill>
              </a:rPr>
              <a:t>Source</a:t>
            </a:r>
            <a:r>
              <a:rPr lang="es-ES">
                <a:solidFill>
                  <a:schemeClr val="accent4"/>
                </a:solidFill>
              </a:rPr>
              <a:t>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766631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527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3AB50D-4616-49D4-B81E-775B355047FC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32A38746-F13E-4D5D-A757-4EB144D94419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3DD2B1-A007-49F8-9A9F-19FE4C84A350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B24C3FDE-EE36-441C-BDBB-C9E3CCCD900A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2750439" cy="384721"/>
          </a:xfrm>
        </p:spPr>
        <p:txBody>
          <a:bodyPr vert="horz" wrap="square">
            <a:noAutofit/>
          </a:bodyPr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ECD0A4F9-D52E-4E9A-9423-EE7B20496B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275044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  <p:sp>
        <p:nvSpPr>
          <p:cNvPr id="18" name="3. Subtitle">
            <a:extLst>
              <a:ext uri="{FF2B5EF4-FFF2-40B4-BE49-F238E27FC236}">
                <a16:creationId xmlns:a16="http://schemas.microsoft.com/office/drawing/2014/main" id="{4C141498-36C2-4C47-AF49-3EE646E429C2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7" y="1135742"/>
            <a:ext cx="2750438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1588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8484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Light">
            <a:extLst>
              <a:ext uri="{FF2B5EF4-FFF2-40B4-BE49-F238E27FC236}">
                <a16:creationId xmlns:a16="http://schemas.microsoft.com/office/drawing/2014/main" id="{47F16599-0500-48DA-9C0C-4AA3FBEF8732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9B95EC-CA39-4E88-A5B3-F62D110E0299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6B52F90A-0439-4509-A5A4-3F74C9FE1C4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ED5E9C-3D91-4C15-8386-900A32B16B6F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3" name="2. Slide Title">
            <a:extLst>
              <a:ext uri="{FF2B5EF4-FFF2-40B4-BE49-F238E27FC236}">
                <a16:creationId xmlns:a16="http://schemas.microsoft.com/office/drawing/2014/main" id="{AEC181CD-4A05-4B96-B6F0-EC67AA710827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3755045" cy="384721"/>
          </a:xfrm>
        </p:spPr>
        <p:txBody>
          <a:bodyPr vert="horz" wrap="square">
            <a:noAutofit/>
          </a:bodyPr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B9083CFB-F738-490F-8281-0F682D0D764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4" y="158101"/>
            <a:ext cx="375504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09D44E33-8708-43C7-A671-A4F039EB886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135742"/>
            <a:ext cx="3755045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0586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824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22D12379-5CDC-4055-AE2F-53B7B617C2E4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9DEA6F-D942-4814-9314-3005F96C38CF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262BDC17-51C7-464D-ADAE-611E4B0F2E9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AEA4C19-B719-47D2-B2F9-73D513184BA5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E3C14CBB-F150-45B2-A5EC-C77C5D48DDB7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5442652" cy="384721"/>
          </a:xfrm>
        </p:spPr>
        <p:txBody>
          <a:bodyPr vert="horz" wrap="square">
            <a:noAutofit/>
          </a:bodyPr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9542B4DC-2677-475B-A5F2-EEBEAE4D817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5442654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ECB9CD6-6C20-4E6E-95A8-2BBD1ABD6032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7" y="1135742"/>
            <a:ext cx="5442650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319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295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572" imgH="588" progId="TCLayout.ActiveDocument.1">
                  <p:embed/>
                </p:oleObj>
              </mc:Choice>
              <mc:Fallback>
                <p:oleObj name="Diapositiva de think-cell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6DA98B19-E7E7-4793-9922-C2749C868878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17DAFD-99B0-4F3A-90EC-19E8ABD7885B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F5DD5BC-1387-402B-BF9A-299D30723A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9AA704-41F9-413F-8C4A-24E065D653A0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2" name="2. Slide Title">
            <a:extLst>
              <a:ext uri="{FF2B5EF4-FFF2-40B4-BE49-F238E27FC236}">
                <a16:creationId xmlns:a16="http://schemas.microsoft.com/office/drawing/2014/main" id="{4DE56A04-6001-4822-9370-BC6DEB0AA9A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7217664" cy="384721"/>
          </a:xfrm>
        </p:spPr>
        <p:txBody>
          <a:bodyPr vert="horz" wrap="square">
            <a:noAutofit/>
          </a:bodyPr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98DA4CE-8ED2-481F-BBA7-2B8D3A4713E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4" y="158101"/>
            <a:ext cx="721766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4E3BB1B0-C609-41F4-A95A-4CE81AF76E2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135742"/>
            <a:ext cx="7217661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196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0917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7B483FA4-40C0-4F7A-947E-D553FE10664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rtl="0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rtl="0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937D78-10DA-4437-8AEC-852F9A9F712C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95D28701-FE54-40FA-A19C-4B3143E9CC6F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417021-B19F-4EDC-9ABA-877BBF103842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3" name="2. Slide Title">
            <a:extLst>
              <a:ext uri="{FF2B5EF4-FFF2-40B4-BE49-F238E27FC236}">
                <a16:creationId xmlns:a16="http://schemas.microsoft.com/office/drawing/2014/main" id="{B8F5EF87-2C1B-4965-9A51-663D3830078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8145511" cy="384721"/>
          </a:xfrm>
        </p:spPr>
        <p:txBody>
          <a:bodyPr vert="horz" wrap="square">
            <a:noAutofit/>
          </a:bodyPr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C15B8546-F3C4-4CC0-950E-D418081341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8145514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  <p:sp>
        <p:nvSpPr>
          <p:cNvPr id="17" name="3. Subtitle">
            <a:extLst>
              <a:ext uri="{FF2B5EF4-FFF2-40B4-BE49-F238E27FC236}">
                <a16:creationId xmlns:a16="http://schemas.microsoft.com/office/drawing/2014/main" id="{8404FFBB-4395-4676-95DB-B23E1C84ED05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7" y="1135742"/>
            <a:ext cx="8145508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subtitle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3357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3207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6" imgW="592" imgH="591" progId="TCLayout.ActiveDocument.1">
                  <p:embed/>
                </p:oleObj>
              </mc:Choice>
              <mc:Fallback>
                <p:oleObj name="Diapositiva de think-cell" r:id="rId6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181DAC4-0F9E-4EC5-A0A1-0E3D874FE4F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E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47A44F-C7C3-4236-A179-CEF4EEB07FC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err="1">
                <a:solidFill>
                  <a:schemeClr val="accent4"/>
                </a:solidFill>
              </a:rPr>
              <a:t>Source</a:t>
            </a:r>
            <a:r>
              <a:rPr lang="es-ES">
                <a:solidFill>
                  <a:schemeClr val="accent4"/>
                </a:solidFill>
              </a:rPr>
              <a:t>: …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563E742-AD3D-4C64-B54C-ED76CF3B8138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0404915-6A5A-45D8-8BEF-2922214B466D}"/>
              </a:ext>
            </a:extLst>
          </p:cNvPr>
          <p:cNvPicPr>
            <a:picLocks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96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m-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5192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8" imgW="592" imgH="591" progId="TCLayout.ActiveDocument.1">
                  <p:embed/>
                </p:oleObj>
              </mc:Choice>
              <mc:Fallback>
                <p:oleObj name="Diapositiva de think-cell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9A657DE-CCDB-43F5-B947-7DEC6E4BA0FF}"/>
              </a:ext>
            </a:extLst>
          </p:cNvPr>
          <p:cNvSpPr/>
          <p:nvPr userDrawn="1"/>
        </p:nvSpPr>
        <p:spPr>
          <a:xfrm>
            <a:off x="6095998" y="0"/>
            <a:ext cx="6096002" cy="6858000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s-ES" sz="1600">
              <a:solidFill>
                <a:schemeClr val="bg1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12046"/>
            <a:ext cx="3720111" cy="769441"/>
          </a:xfrm>
        </p:spPr>
        <p:txBody>
          <a:bodyPr vert="horz" wrap="square">
            <a:spAutoFit/>
          </a:bodyPr>
          <a:lstStyle>
            <a:lvl1pPr rtl="0">
              <a:defRPr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4" y="158101"/>
            <a:ext cx="372011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181DAC4-0F9E-4EC5-A0A1-0E3D874FE4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E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47A44F-C7C3-4236-A179-CEF4EEB07FC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498754"/>
            <a:ext cx="932688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err="1"/>
              <a:t>Source</a:t>
            </a:r>
            <a:r>
              <a:rPr lang="es-ES"/>
              <a:t>: 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AE1E63-394C-4203-B56A-E067C4EA0EB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9590" y="2241741"/>
            <a:ext cx="2532821" cy="2374519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10CC379-4F63-4677-A5E6-276F957D7B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736" y="1597303"/>
            <a:ext cx="3720111" cy="276999"/>
          </a:xfrm>
        </p:spPr>
        <p:txBody>
          <a:bodyPr vert="horz" wrap="square" lIns="0" tIns="0" rIns="0" bIns="0" rtlCol="0">
            <a:noAutofit/>
          </a:bodyPr>
          <a:lstStyle>
            <a:lvl1pPr rtl="0">
              <a:defRPr lang="en-US" sz="1800" b="0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60DADC71-5E5E-4BF6-B32F-E7628A609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17150" y="1597303"/>
            <a:ext cx="3720111" cy="246221"/>
          </a:xfrm>
        </p:spPr>
        <p:txBody>
          <a:bodyPr>
            <a:spAutoFit/>
          </a:bodyPr>
          <a:lstStyle>
            <a:lvl1pPr rtl="0">
              <a:defRPr b="1"/>
            </a:lvl1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127AC0FF-D74C-4363-B482-12CF3DB1B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736" y="2241741"/>
            <a:ext cx="3720111" cy="1384995"/>
          </a:xfrm>
        </p:spPr>
        <p:txBody>
          <a:bodyPr>
            <a:spAutoFit/>
          </a:bodyPr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CEA76325-BF7C-4874-9601-BF4E87A18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17150" y="2241741"/>
            <a:ext cx="3720111" cy="1384995"/>
          </a:xfrm>
        </p:spPr>
        <p:txBody>
          <a:bodyPr>
            <a:spAutoFit/>
          </a:bodyPr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85679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8993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592" imgH="591" progId="TCLayout.ActiveDocument.1">
                  <p:embed/>
                </p:oleObj>
              </mc:Choice>
              <mc:Fallback>
                <p:oleObj name="Diapositiva de think-cell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E9DE640-CBCB-4F0C-B5A2-C48D3D6DDA4D}"/>
              </a:ext>
            </a:extLst>
          </p:cNvPr>
          <p:cNvSpPr/>
          <p:nvPr userDrawn="1"/>
        </p:nvSpPr>
        <p:spPr>
          <a:xfrm>
            <a:off x="-1" y="0"/>
            <a:ext cx="3923819" cy="6858000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s-ES" sz="1600">
              <a:solidFill>
                <a:schemeClr val="bg1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7" y="1389263"/>
            <a:ext cx="2859796" cy="677108"/>
          </a:xfrm>
        </p:spPr>
        <p:txBody>
          <a:bodyPr vert="horz" wrap="square">
            <a:spAutoFit/>
          </a:bodyPr>
          <a:lstStyle>
            <a:lvl1pPr rtl="0"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s-ES"/>
              <a:t>Agenda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181DAC4-0F9E-4EC5-A0A1-0E3D874FE4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E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47A44F-C7C3-4236-A179-CEF4EEB07FCF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498754"/>
            <a:ext cx="932688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err="1"/>
              <a:t>Source</a:t>
            </a:r>
            <a:r>
              <a:rPr lang="es-ES"/>
              <a:t>: 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AE1E63-394C-4203-B56A-E067C4EA0E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736" y="3284672"/>
            <a:ext cx="4487045" cy="3573328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10CC379-4F63-4677-A5E6-276F957D7B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19149" y="1389263"/>
            <a:ext cx="6318115" cy="1384995"/>
          </a:xfrm>
        </p:spPr>
        <p:txBody>
          <a:bodyPr wrap="square">
            <a:spAutoFit/>
          </a:bodyPr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9708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8402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592" imgH="591" progId="TCLayout.ActiveDocument.1">
                  <p:embed/>
                </p:oleObj>
              </mc:Choice>
              <mc:Fallback>
                <p:oleObj name="Diapositiva de think-cell" r:id="rId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6C52839-3B02-4960-8B53-5C1F8C6EAF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656" y="2665947"/>
            <a:ext cx="4606689" cy="1526107"/>
          </a:xfrm>
          <a:prstGeom prst="rect">
            <a:avLst/>
          </a:prstGeom>
        </p:spPr>
      </p:pic>
      <p:pic>
        <p:nvPicPr>
          <p:cNvPr id="7" name="Imagen 19" descr="Imagen que contiene objeto&#10;&#10;Descripción generada automáticamente">
            <a:extLst>
              <a:ext uri="{FF2B5EF4-FFF2-40B4-BE49-F238E27FC236}">
                <a16:creationId xmlns:a16="http://schemas.microsoft.com/office/drawing/2014/main" id="{0356BE43-A359-471C-8C05-A3546A2959D3}"/>
              </a:ext>
            </a:extLst>
          </p:cNvPr>
          <p:cNvPicPr>
            <a:picLocks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44" t="20115" r="4568" b="20084"/>
          <a:stretch/>
        </p:blipFill>
        <p:spPr bwMode="ltGray">
          <a:xfrm>
            <a:off x="5468346" y="6347006"/>
            <a:ext cx="1255309" cy="26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716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7508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8" imgW="592" imgH="591" progId="TCLayout.ActiveDocument.1">
                  <p:embed/>
                </p:oleObj>
              </mc:Choice>
              <mc:Fallback>
                <p:oleObj name="Diapositiva de think-cell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12046"/>
            <a:ext cx="11083923" cy="384721"/>
          </a:xfrm>
        </p:spPr>
        <p:txBody>
          <a:bodyPr vert="horz" wrap="square">
            <a:noAutofit/>
          </a:bodyPr>
          <a:lstStyle>
            <a:lvl1pPr rtl="0">
              <a:defRPr>
                <a:solidFill>
                  <a:schemeClr val="accent2"/>
                </a:solidFill>
              </a:defRPr>
            </a:lvl1pPr>
          </a:lstStyle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158101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1" dirty="0">
                <a:solidFill>
                  <a:schemeClr val="accent4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ES"/>
              <a:t>ADD TRACKER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181DAC4-0F9E-4EC5-A0A1-0E3D874FE4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E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47A44F-C7C3-4236-A179-CEF4EEB07FC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err="1">
                <a:solidFill>
                  <a:schemeClr val="accent4"/>
                </a:solidFill>
              </a:rPr>
              <a:t>Source</a:t>
            </a:r>
            <a:r>
              <a:rPr lang="es-ES">
                <a:solidFill>
                  <a:schemeClr val="accent4"/>
                </a:solidFill>
              </a:rPr>
              <a:t>: …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563E742-AD3D-4C64-B54C-ED76CF3B8138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CB57925-713A-4490-A495-1CBFC4578B5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8" y="6414657"/>
            <a:ext cx="835814" cy="27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46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50492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592" imgH="591" progId="TCLayout.ActiveDocument.1">
                  <p:embed/>
                </p:oleObj>
              </mc:Choice>
              <mc:Fallback>
                <p:oleObj name="Diapositiva de think-cell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00" name="Picture 80" descr="Megalabs la farmacéutica global de Latinoamérica">
            <a:extLst>
              <a:ext uri="{FF2B5EF4-FFF2-40B4-BE49-F238E27FC236}">
                <a16:creationId xmlns:a16="http://schemas.microsoft.com/office/drawing/2014/main" id="{EF03EEFF-7D5E-4243-B5D4-1E4EEA4D930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7" t="33974" r="8375" b="26710"/>
          <a:stretch/>
        </p:blipFill>
        <p:spPr bwMode="auto">
          <a:xfrm>
            <a:off x="457202" y="6048434"/>
            <a:ext cx="1418166" cy="30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4" name="Documenttype">
            <a:extLst>
              <a:ext uri="{FF2B5EF4-FFF2-40B4-BE49-F238E27FC236}">
                <a16:creationId xmlns:a16="http://schemas.microsoft.com/office/drawing/2014/main" id="{AA340622-568E-4746-ADE6-6A642F6DBCC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15086" y="4875312"/>
            <a:ext cx="3987340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rgbClr val="545454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27" name="Subtitle">
            <a:extLst>
              <a:ext uri="{FF2B5EF4-FFF2-40B4-BE49-F238E27FC236}">
                <a16:creationId xmlns:a16="http://schemas.microsoft.com/office/drawing/2014/main" id="{22FB7AFD-E66A-5C40-9EA0-210DB41C718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15086" y="4422765"/>
            <a:ext cx="3987340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rgbClr val="545454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AB6174FF-CD02-EC4A-9B67-40119C120FB1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 bwMode="ltGray">
          <a:xfrm>
            <a:off x="515086" y="2998157"/>
            <a:ext cx="3987340" cy="12054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ts val="4680"/>
              </a:lnSpc>
              <a:defRPr lang="en-US" sz="4000" dirty="0">
                <a:solidFill>
                  <a:srgbClr val="545454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EE7208-D53D-48E5-B4C7-FAC07B5D6F3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515706"/>
            <a:ext cx="1961895" cy="649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9C86FE-2F7A-4C30-AF31-05538623BE42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2762" y="0"/>
            <a:ext cx="7089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045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2692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9" imgW="413" imgH="416" progId="TCLayout.ActiveDocument.1">
                  <p:embed/>
                </p:oleObj>
              </mc:Choice>
              <mc:Fallback>
                <p:oleObj name="Diapositiva de think-cell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12046"/>
            <a:ext cx="11083923" cy="384721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732330"/>
            <a:ext cx="11083923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accent4"/>
                </a:solidFill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9352373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6027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3AB50D-4616-49D4-B81E-775B355047FC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32A38746-F13E-4D5D-A757-4EB144D94419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3DD2B1-A007-49F8-9A9F-19FE4C84A350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B24C3FDE-EE36-441C-BDBB-C9E3CCCD900A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2750439" cy="384721"/>
          </a:xfrm>
        </p:spPr>
        <p:txBody>
          <a:bodyPr vert="horz" wrap="square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ECD0A4F9-D52E-4E9A-9423-EE7B20496B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275044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8" name="3. Subtitle">
            <a:extLst>
              <a:ext uri="{FF2B5EF4-FFF2-40B4-BE49-F238E27FC236}">
                <a16:creationId xmlns:a16="http://schemas.microsoft.com/office/drawing/2014/main" id="{4C141498-36C2-4C47-AF49-3EE646E429C2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7" y="1135742"/>
            <a:ext cx="2750438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79476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00470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Light">
            <a:extLst>
              <a:ext uri="{FF2B5EF4-FFF2-40B4-BE49-F238E27FC236}">
                <a16:creationId xmlns:a16="http://schemas.microsoft.com/office/drawing/2014/main" id="{47F16599-0500-48DA-9C0C-4AA3FBEF8732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9B95EC-CA39-4E88-A5B3-F62D110E0299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6B52F90A-0439-4509-A5A4-3F74C9FE1C4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ED5E9C-3D91-4C15-8386-900A32B16B6F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3" name="2. Slide Title">
            <a:extLst>
              <a:ext uri="{FF2B5EF4-FFF2-40B4-BE49-F238E27FC236}">
                <a16:creationId xmlns:a16="http://schemas.microsoft.com/office/drawing/2014/main" id="{AEC181CD-4A05-4B96-B6F0-EC67AA710827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3755045" cy="384721"/>
          </a:xfrm>
        </p:spPr>
        <p:txBody>
          <a:bodyPr vert="horz" wrap="square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B9083CFB-F738-490F-8281-0F682D0D764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4" y="158101"/>
            <a:ext cx="3755045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09D44E33-8708-43C7-A671-A4F039EB886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135742"/>
            <a:ext cx="3755045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049285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5041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22D12379-5CDC-4055-AE2F-53B7B617C2E4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9DEA6F-D942-4814-9314-3005F96C38CF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262BDC17-51C7-464D-ADAE-611E4B0F2E9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AEA4C19-B719-47D2-B2F9-73D513184BA5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E3C14CBB-F150-45B2-A5EC-C77C5D48DDB7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5442652" cy="384721"/>
          </a:xfrm>
        </p:spPr>
        <p:txBody>
          <a:bodyPr vert="horz" wrap="square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9542B4DC-2677-475B-A5F2-EEBEAE4D817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5442654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ECB9CD6-6C20-4E6E-95A8-2BBD1ABD6032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7" y="1135742"/>
            <a:ext cx="5442650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45930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1246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572" imgH="588" progId="TCLayout.ActiveDocument.1">
                  <p:embed/>
                </p:oleObj>
              </mc:Choice>
              <mc:Fallback>
                <p:oleObj name="Diapositiva de think-cell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6DA98B19-E7E7-4793-9922-C2749C868878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17DAFD-99B0-4F3A-90EC-19E8ABD7885B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F5DD5BC-1387-402B-BF9A-299D30723A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9AA704-41F9-413F-8C4A-24E065D653A0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2" name="2. Slide Title">
            <a:extLst>
              <a:ext uri="{FF2B5EF4-FFF2-40B4-BE49-F238E27FC236}">
                <a16:creationId xmlns:a16="http://schemas.microsoft.com/office/drawing/2014/main" id="{4DE56A04-6001-4822-9370-BC6DEB0AA9AB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7217664" cy="384721"/>
          </a:xfrm>
        </p:spPr>
        <p:txBody>
          <a:bodyPr vert="horz" wrap="square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98DA4CE-8ED2-481F-BBA7-2B8D3A4713E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4" y="158101"/>
            <a:ext cx="721766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4E3BB1B0-C609-41F4-A95A-4CE81AF76E2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135742"/>
            <a:ext cx="7217661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91819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336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413" imgH="416" progId="TCLayout.ActiveDocument.1">
                  <p:embed/>
                </p:oleObj>
              </mc:Choice>
              <mc:Fallback>
                <p:oleObj name="Diapositiva de think-cell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7B483FA4-40C0-4F7A-947E-D553FE10664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5749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es-ES" sz="900" b="0" smtClean="0">
                <a:solidFill>
                  <a:srgbClr val="87A896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‹Nº›</a:t>
            </a:fld>
            <a:endParaRPr lang="es-ES" sz="900" b="0">
              <a:solidFill>
                <a:srgbClr val="87A896"/>
              </a:solidFill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937D78-10DA-4437-8AEC-852F9A9F712C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95D28701-FE54-40FA-A19C-4B3143E9CC6F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09029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s-ES" noProof="0">
                <a:solidFill>
                  <a:schemeClr val="accent4"/>
                </a:solidFill>
              </a:rPr>
              <a:t>Fuente: …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417021-B19F-4EDC-9ABA-877BBF103842}"/>
              </a:ext>
            </a:extLst>
          </p:cNvPr>
          <p:cNvPicPr>
            <a:picLocks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13" name="2. Slide Title">
            <a:extLst>
              <a:ext uri="{FF2B5EF4-FFF2-40B4-BE49-F238E27FC236}">
                <a16:creationId xmlns:a16="http://schemas.microsoft.com/office/drawing/2014/main" id="{B8F5EF87-2C1B-4965-9A51-663D3830078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12046"/>
            <a:ext cx="8145511" cy="384721"/>
          </a:xfrm>
        </p:spPr>
        <p:txBody>
          <a:bodyPr vert="horz" wrap="square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C15B8546-F3C4-4CC0-950E-D418081341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158101"/>
            <a:ext cx="8145514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1" cap="all" baseline="0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7" name="3. Subtitle">
            <a:extLst>
              <a:ext uri="{FF2B5EF4-FFF2-40B4-BE49-F238E27FC236}">
                <a16:creationId xmlns:a16="http://schemas.microsoft.com/office/drawing/2014/main" id="{8404FFBB-4395-4676-95DB-B23E1C84ED05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7" y="1135742"/>
            <a:ext cx="8145508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800" b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6729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55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6" imgW="592" imgH="591" progId="TCLayout.ActiveDocument.1">
                  <p:embed/>
                </p:oleObj>
              </mc:Choice>
              <mc:Fallback>
                <p:oleObj name="Diapositiva de think-cell" r:id="rId6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181DAC4-0F9E-4EC5-A0A1-0E3D874FE4F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47A44F-C7C3-4236-A179-CEF4EEB07FC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accent4"/>
                </a:solidFill>
              </a:rPr>
              <a:t>Source: …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563E742-AD3D-4C64-B54C-ED76CF3B8138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0404915-6A5A-45D8-8BEF-2922214B466D}"/>
              </a:ext>
            </a:extLst>
          </p:cNvPr>
          <p:cNvPicPr>
            <a:picLocks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141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m-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7524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8" imgW="592" imgH="591" progId="TCLayout.ActiveDocument.1">
                  <p:embed/>
                </p:oleObj>
              </mc:Choice>
              <mc:Fallback>
                <p:oleObj name="Diapositiva de think-cell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9A657DE-CCDB-43F5-B947-7DEC6E4BA0FF}"/>
              </a:ext>
            </a:extLst>
          </p:cNvPr>
          <p:cNvSpPr/>
          <p:nvPr userDrawn="1"/>
        </p:nvSpPr>
        <p:spPr>
          <a:xfrm>
            <a:off x="6095998" y="0"/>
            <a:ext cx="6096002" cy="6858000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12046"/>
            <a:ext cx="3720111" cy="769441"/>
          </a:xfrm>
        </p:spPr>
        <p:txBody>
          <a:bodyPr vert="horz" wrap="square">
            <a:sp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4" y="158101"/>
            <a:ext cx="372011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1" dirty="0">
                <a:solidFill>
                  <a:schemeClr val="bg1">
                    <a:lumMod val="50000"/>
                  </a:schemeClr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181DAC4-0F9E-4EC5-A0A1-0E3D874FE4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47A44F-C7C3-4236-A179-CEF4EEB07FC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498754"/>
            <a:ext cx="932688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AE1E63-394C-4203-B56A-E067C4EA0EB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9590" y="2241741"/>
            <a:ext cx="2532821" cy="2374519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10CC379-4F63-4677-A5E6-276F957D7B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736" y="1597303"/>
            <a:ext cx="3720111" cy="276999"/>
          </a:xfrm>
        </p:spPr>
        <p:txBody>
          <a:bodyPr vert="horz" wrap="square" lIns="0" tIns="0" rIns="0" bIns="0" rtlCol="0">
            <a:noAutofit/>
          </a:bodyPr>
          <a:lstStyle>
            <a:lvl1pPr>
              <a:defRPr lang="en-US" sz="1800" b="0" smtClean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60DADC71-5E5E-4BF6-B32F-E7628A609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17150" y="1597303"/>
            <a:ext cx="3720111" cy="246221"/>
          </a:xfrm>
        </p:spPr>
        <p:txBody>
          <a:bodyPr>
            <a:sp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127AC0FF-D74C-4363-B482-12CF3DB1BF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736" y="2241741"/>
            <a:ext cx="3720111" cy="1384995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CEA76325-BF7C-4874-9601-BF4E87A18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17150" y="2241741"/>
            <a:ext cx="3720111" cy="1384995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18016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05614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592" imgH="591" progId="TCLayout.ActiveDocument.1">
                  <p:embed/>
                </p:oleObj>
              </mc:Choice>
              <mc:Fallback>
                <p:oleObj name="Diapositiva de think-cell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E9DE640-CBCB-4F0C-B5A2-C48D3D6DDA4D}"/>
              </a:ext>
            </a:extLst>
          </p:cNvPr>
          <p:cNvSpPr/>
          <p:nvPr userDrawn="1"/>
        </p:nvSpPr>
        <p:spPr>
          <a:xfrm>
            <a:off x="-1" y="0"/>
            <a:ext cx="3923819" cy="6858000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7" y="1389263"/>
            <a:ext cx="2859796" cy="677108"/>
          </a:xfrm>
        </p:spPr>
        <p:txBody>
          <a:bodyPr vert="horz" wrap="square">
            <a:sp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181DAC4-0F9E-4EC5-A0A1-0E3D874FE4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rgbClr val="87A896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>
              <a:solidFill>
                <a:srgbClr val="87A896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F147A44F-C7C3-4236-A179-CEF4EEB07FCF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498754"/>
            <a:ext cx="932688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AE1E63-394C-4203-B56A-E067C4EA0E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736" y="3284672"/>
            <a:ext cx="4487045" cy="3573328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10CC379-4F63-4677-A5E6-276F957D7B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19149" y="1389263"/>
            <a:ext cx="6318115" cy="138499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9523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8402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592" imgH="591" progId="TCLayout.ActiveDocument.1">
                  <p:embed/>
                </p:oleObj>
              </mc:Choice>
              <mc:Fallback>
                <p:oleObj name="Diapositiva de think-cell" r:id="rId3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6C52839-3B02-4960-8B53-5C1F8C6EAF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2656" y="2665947"/>
            <a:ext cx="4606689" cy="1526107"/>
          </a:xfrm>
          <a:prstGeom prst="rect">
            <a:avLst/>
          </a:prstGeom>
        </p:spPr>
      </p:pic>
      <p:pic>
        <p:nvPicPr>
          <p:cNvPr id="7" name="Imagen 19" descr="Imagen que contiene objeto&#10;&#10;Descripción generada automáticamente">
            <a:extLst>
              <a:ext uri="{FF2B5EF4-FFF2-40B4-BE49-F238E27FC236}">
                <a16:creationId xmlns:a16="http://schemas.microsoft.com/office/drawing/2014/main" id="{0356BE43-A359-471C-8C05-A3546A2959D3}"/>
              </a:ext>
            </a:extLst>
          </p:cNvPr>
          <p:cNvPicPr>
            <a:picLocks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444" t="20115" r="4568" b="20084"/>
          <a:stretch/>
        </p:blipFill>
        <p:spPr bwMode="ltGray">
          <a:xfrm>
            <a:off x="5468346" y="6347006"/>
            <a:ext cx="1255309" cy="26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187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ED10-B50A-4EA9-A9D7-FDE14814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AE208-1450-46EC-B5D8-7DE8DA4CB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176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theme" Target="../theme/theme2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slideLayout" Target="../slideLayouts/slideLayout17.xml"/><Relationship Id="rId21" Type="http://schemas.openxmlformats.org/officeDocument/2006/relationships/tags" Target="../tags/tag22.xml"/><Relationship Id="rId34" Type="http://schemas.openxmlformats.org/officeDocument/2006/relationships/oleObject" Target="../embeddings/oleObject4.bin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slideLayout" Target="../slideLayouts/slideLayout16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5" Type="http://schemas.openxmlformats.org/officeDocument/2006/relationships/slideLayout" Target="../slideLayouts/slideLayout19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image" Target="../media/image4.png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image" Target="../media/image3.emf"/><Relationship Id="rId8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theme" Target="../theme/theme4.xml"/><Relationship Id="rId18" Type="http://schemas.openxmlformats.org/officeDocument/2006/relationships/tags" Target="../tags/tag202.xml"/><Relationship Id="rId26" Type="http://schemas.openxmlformats.org/officeDocument/2006/relationships/tags" Target="../tags/tag210.xml"/><Relationship Id="rId3" Type="http://schemas.openxmlformats.org/officeDocument/2006/relationships/slideLayout" Target="../slideLayouts/slideLayout41.xml"/><Relationship Id="rId21" Type="http://schemas.openxmlformats.org/officeDocument/2006/relationships/tags" Target="../tags/tag205.xml"/><Relationship Id="rId34" Type="http://schemas.openxmlformats.org/officeDocument/2006/relationships/oleObject" Target="../embeddings/oleObject29.bin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tags" Target="../tags/tag201.xml"/><Relationship Id="rId25" Type="http://schemas.openxmlformats.org/officeDocument/2006/relationships/tags" Target="../tags/tag209.xml"/><Relationship Id="rId33" Type="http://schemas.openxmlformats.org/officeDocument/2006/relationships/tags" Target="../tags/tag217.xml"/><Relationship Id="rId2" Type="http://schemas.openxmlformats.org/officeDocument/2006/relationships/slideLayout" Target="../slideLayouts/slideLayout40.xml"/><Relationship Id="rId16" Type="http://schemas.openxmlformats.org/officeDocument/2006/relationships/tags" Target="../tags/tag200.xml"/><Relationship Id="rId20" Type="http://schemas.openxmlformats.org/officeDocument/2006/relationships/tags" Target="../tags/tag204.xml"/><Relationship Id="rId29" Type="http://schemas.openxmlformats.org/officeDocument/2006/relationships/tags" Target="../tags/tag213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tags" Target="../tags/tag208.xml"/><Relationship Id="rId32" Type="http://schemas.openxmlformats.org/officeDocument/2006/relationships/tags" Target="../tags/tag216.xml"/><Relationship Id="rId5" Type="http://schemas.openxmlformats.org/officeDocument/2006/relationships/slideLayout" Target="../slideLayouts/slideLayout43.xml"/><Relationship Id="rId15" Type="http://schemas.openxmlformats.org/officeDocument/2006/relationships/tags" Target="../tags/tag199.xml"/><Relationship Id="rId23" Type="http://schemas.openxmlformats.org/officeDocument/2006/relationships/tags" Target="../tags/tag207.xml"/><Relationship Id="rId28" Type="http://schemas.openxmlformats.org/officeDocument/2006/relationships/tags" Target="../tags/tag212.xml"/><Relationship Id="rId36" Type="http://schemas.openxmlformats.org/officeDocument/2006/relationships/image" Target="../media/image4.png"/><Relationship Id="rId10" Type="http://schemas.openxmlformats.org/officeDocument/2006/relationships/slideLayout" Target="../slideLayouts/slideLayout48.xml"/><Relationship Id="rId19" Type="http://schemas.openxmlformats.org/officeDocument/2006/relationships/tags" Target="../tags/tag203.xml"/><Relationship Id="rId31" Type="http://schemas.openxmlformats.org/officeDocument/2006/relationships/tags" Target="../tags/tag215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ags" Target="../tags/tag198.xml"/><Relationship Id="rId22" Type="http://schemas.openxmlformats.org/officeDocument/2006/relationships/tags" Target="../tags/tag206.xml"/><Relationship Id="rId27" Type="http://schemas.openxmlformats.org/officeDocument/2006/relationships/tags" Target="../tags/tag211.xml"/><Relationship Id="rId30" Type="http://schemas.openxmlformats.org/officeDocument/2006/relationships/tags" Target="../tags/tag214.xml"/><Relationship Id="rId35" Type="http://schemas.openxmlformats.org/officeDocument/2006/relationships/image" Target="../media/image3.emf"/><Relationship Id="rId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FABDE53-9063-E910-6865-6C1D19DC18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295718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7" imgW="351" imgH="351" progId="TCLayout.ActiveDocument.1">
                  <p:embed/>
                </p:oleObj>
              </mc:Choice>
              <mc:Fallback>
                <p:oleObj name="Diapositiva de think-cell" r:id="rId17" imgW="351" imgH="35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ABDE53-9063-E910-6865-6C1D19DC18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1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37142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713" r:id="rId13"/>
    <p:sldLayoutId id="2147483714" r:id="rId14"/>
  </p:sldLayoutIdLst>
  <p:txStyles>
    <p:titleStyle>
      <a:lvl1pPr algn="l" defTabSz="913308" rtl="0" eaLnBrk="1" latinLnBrk="0" hangingPunct="1">
        <a:lnSpc>
          <a:spcPct val="90000"/>
        </a:lnSpc>
        <a:spcBef>
          <a:spcPct val="0"/>
        </a:spcBef>
        <a:buNone/>
        <a:defRPr sz="4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27" indent="-228327" algn="l" defTabSz="913308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4981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635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290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4944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1598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252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4905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1559" indent="-228327" algn="l" defTabSz="91330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654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308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69962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617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271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39925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6578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232" algn="l" defTabSz="913308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8330162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4" imgW="413" imgH="416" progId="TCLayout.ActiveDocument.1">
                  <p:embed/>
                </p:oleObj>
              </mc:Choice>
              <mc:Fallback>
                <p:oleObj name="Diapositiva de think-cell" r:id="rId3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9" name="Picture 148">
            <a:extLst>
              <a:ext uri="{FF2B5EF4-FFF2-40B4-BE49-F238E27FC236}">
                <a16:creationId xmlns:a16="http://schemas.microsoft.com/office/drawing/2014/main" id="{1B35BC49-2388-4007-891F-F957861EFAB6}"/>
              </a:ext>
            </a:extLst>
          </p:cNvPr>
          <p:cNvPicPr>
            <a:picLocks/>
          </p:cNvPicPr>
          <p:nvPr userDrawn="1"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E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6"/>
            </p:custDataLst>
          </p:nvPr>
        </p:nvSpPr>
        <p:spPr>
          <a:xfrm>
            <a:off x="553972" y="5938555"/>
            <a:ext cx="932688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s-ES" err="1">
                <a:solidFill>
                  <a:schemeClr val="accent4"/>
                </a:solidFill>
              </a:rPr>
              <a:t>Footnotes</a:t>
            </a:r>
            <a:endParaRPr lang="es-ES">
              <a:solidFill>
                <a:schemeClr val="accent4"/>
              </a:solidFill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4736" y="312046"/>
            <a:ext cx="11083923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399033"/>
              <a:ext cx="11082528" cy="4818887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s-E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39903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975166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s-ES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987738" y="1874467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ES" err="1">
                <a:solidFill>
                  <a:schemeClr val="accent1"/>
                </a:solidFill>
              </a:rPr>
              <a:t>Above</a:t>
            </a:r>
            <a:r>
              <a:rPr lang="es-ES">
                <a:solidFill>
                  <a:schemeClr val="accent1"/>
                </a:solidFill>
              </a:rPr>
              <a:t> Chart </a:t>
            </a:r>
            <a:r>
              <a:rPr lang="es-ES" err="1">
                <a:solidFill>
                  <a:schemeClr val="accent1"/>
                </a:solidFill>
              </a:rPr>
              <a:t>Exhibit</a:t>
            </a:r>
            <a:r>
              <a:rPr lang="es-ES">
                <a:solidFill>
                  <a:schemeClr val="accent1"/>
                </a:solidFill>
              </a:rPr>
              <a:t> </a:t>
            </a:r>
            <a:r>
              <a:rPr lang="es-ES" err="1">
                <a:solidFill>
                  <a:schemeClr val="accent1"/>
                </a:solidFill>
              </a:rPr>
              <a:t>Title</a:t>
            </a:r>
            <a:endParaRPr lang="es-ES">
              <a:solidFill>
                <a:schemeClr val="accent1"/>
              </a:solidFill>
            </a:endParaRPr>
          </a:p>
          <a:p>
            <a:pPr lvl="0" rtl="0"/>
            <a:r>
              <a:rPr lang="es-ES" b="0" err="1">
                <a:solidFill>
                  <a:schemeClr val="bg1">
                    <a:lumMod val="50000"/>
                  </a:schemeClr>
                </a:solidFill>
              </a:rPr>
              <a:t>Unit</a:t>
            </a:r>
            <a:r>
              <a:rPr lang="es-ES" b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0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es-ES" b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0" err="1">
                <a:solidFill>
                  <a:schemeClr val="bg1">
                    <a:lumMod val="50000"/>
                  </a:schemeClr>
                </a:solidFill>
              </a:rPr>
              <a:t>Measure</a:t>
            </a:r>
            <a:endParaRPr lang="es-ES" b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68594102-2861-45A3-8FBF-5DD645A1AD47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9DDFC9D8-FEDA-4741-B2C7-67F70DB1E191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7BCEB3B6-4AF5-42C0-8936-59CD0BE69A11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EC1F080C-F0C8-4521-B3EC-AA92D56F2DE4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F2679376-5BEB-48DF-8EDE-3D40555D174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pPr rtl="0"/>
              <a:endParaRPr lang="es-ES" sz="1400" baseline="0">
                <a:ea typeface="+mn-ea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BD20F7ED-8E3E-459F-8566-CD53C06504E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pPr rtl="0"/>
              <a:endParaRPr lang="es-ES" sz="1400" baseline="0">
                <a:ea typeface="+mn-ea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875D63AB-51A0-447B-BAE2-5375F036B8F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pPr rtl="0"/>
              <a:endParaRPr lang="es-ES" sz="1400" baseline="0">
                <a:ea typeface="+mn-ea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46F9841D-00F1-4F61-A86A-2A5E7EBB977C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E6B9CF5D-A288-450F-8596-EA9C4F413CF5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8A89757B-9638-435A-9961-DFF8A72AFEFA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92BAC9DB-B234-4818-A322-BDD4F309CCEA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AE609AD8-A384-4EA6-BF9D-561E65C6497A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741D12CE-C8BC-45D2-963C-A5A0CA8845D4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76E2511A-C370-4347-9913-EC5AD3D16E85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FA44242C-C8CF-4D36-AB5D-B6444F41ED23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rtl="0"/>
                <a:endParaRPr lang="es-E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084C77E1-4C7C-483D-A5D2-B52A318B0533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 rtl="0"/>
                <a:endParaRPr lang="es-ES" sz="1400"/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8AF83405-AB97-4266-AABE-6252BBAF6AF1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96834D8-BDD0-4B49-A412-20919B63011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rtl="0"/>
                <a:endParaRPr lang="es-E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D0DC393C-8262-4071-B18B-3F58A7496BA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 rtl="0"/>
                <a:endParaRPr lang="es-ES" sz="1400"/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6408F4FF-9294-4C1A-B847-C055398F53A2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0EA05B41-923C-47D4-AE53-2C76E71AAE5F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rtl="0"/>
                <a:endParaRPr lang="es-E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E9AFCF63-D59C-411E-97A8-4C1806CBB170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 rtl="0"/>
                <a:endParaRPr lang="es-ES" sz="1400"/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54E3665E-D1E7-4ACA-B237-077726295D59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6DB4EC6E-E0FC-4B89-9B01-695CF49B835E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rtl="0"/>
                <a:endParaRPr lang="es-E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770655B2-28BF-421E-9A2C-09ACB89A2542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 rtl="0"/>
                <a:endParaRPr lang="es-ES" sz="1400"/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1441387F-9F0E-4748-88E6-F67E43344113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C142F5FE-68C3-4524-8AA9-A2746BFC69C8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 rtl="0"/>
                <a:endParaRPr lang="es-E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C234B694-511B-4AA2-BC9E-18544B5DC2D4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 rtl="0"/>
                <a:endParaRPr lang="es-ES" sz="1400"/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02EEAAC5-DFBC-47DD-9BBD-4D4E72DCACE8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85F61B26-5C75-47E2-BEE9-457831974819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400">
                <a:solidFill>
                  <a:schemeClr val="tx1"/>
                </a:solidFill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8A5CD372-1F08-4CAC-A625-E8A1000E3DAF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400">
                <a:solidFill>
                  <a:schemeClr val="tx1"/>
                </a:solidFill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D63D10A1-9A5A-4C8A-8895-A259448D222D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400">
                <a:solidFill>
                  <a:schemeClr val="tx1"/>
                </a:solidFill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65376834-26CE-4ED6-8362-DAA993D0AD81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400">
                <a:solidFill>
                  <a:schemeClr val="tx1"/>
                </a:solidFill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C64136E7-E1D5-4B24-881F-676A3C543A3F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sz="1400">
                <a:solidFill>
                  <a:schemeClr val="tx1"/>
                </a:solidFill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06FA7F06-E9DA-48DE-AD5C-90D3E00ED76E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96F79E27-B8B5-453B-9688-18D18BF457FA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D6B37DAA-0AE8-44DE-95F9-7FE394ECDD25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3B626917-A23B-4F95-82E2-6A47183E2103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C6269DF4-2B6D-43AB-AC6C-CC7F5C8BC284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ES" sz="1400" err="1"/>
                <a:t>Legend</a:t>
              </a:r>
              <a:endParaRPr lang="es-ES" sz="1400"/>
            </a:p>
          </p:txBody>
        </p:sp>
      </p:grpSp>
      <p:sp>
        <p:nvSpPr>
          <p:cNvPr id="148" name="Text Placeholder 3">
            <a:extLst>
              <a:ext uri="{FF2B5EF4-FFF2-40B4-BE49-F238E27FC236}">
                <a16:creationId xmlns:a16="http://schemas.microsoft.com/office/drawing/2014/main" id="{147FDE0F-2D38-4722-ABA1-72BEC08D3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5" y="1874466"/>
            <a:ext cx="505209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4404C9E-D1AA-4CD5-9185-DA9EBEFDCC7F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23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730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048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3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8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9541259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4" imgW="413" imgH="416" progId="TCLayout.ActiveDocument.1">
                  <p:embed/>
                </p:oleObj>
              </mc:Choice>
              <mc:Fallback>
                <p:oleObj name="Diapositiva de think-cell" r:id="rId3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9" name="Picture 148">
            <a:extLst>
              <a:ext uri="{FF2B5EF4-FFF2-40B4-BE49-F238E27FC236}">
                <a16:creationId xmlns:a16="http://schemas.microsoft.com/office/drawing/2014/main" id="{1B35BC49-2388-4007-891F-F957861EFAB6}"/>
              </a:ext>
            </a:extLst>
          </p:cNvPr>
          <p:cNvPicPr>
            <a:picLocks/>
          </p:cNvPicPr>
          <p:nvPr userDrawn="1"/>
        </p:nvPicPr>
        <p:blipFill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087" y="6414657"/>
            <a:ext cx="835814" cy="276889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6"/>
            </p:custDataLst>
          </p:nvPr>
        </p:nvSpPr>
        <p:spPr>
          <a:xfrm>
            <a:off x="553972" y="5938555"/>
            <a:ext cx="932688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>
                <a:solidFill>
                  <a:schemeClr val="accent4"/>
                </a:solidFill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4736" y="312046"/>
            <a:ext cx="11083923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399033"/>
              <a:ext cx="11082528" cy="4818887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39903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975166"/>
            <a:ext cx="34464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987738" y="1874467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>
                <a:solidFill>
                  <a:schemeClr val="accent1"/>
                </a:solidFill>
              </a:rPr>
              <a:t>Above Chart Exhibit Title</a:t>
            </a:r>
          </a:p>
          <a:p>
            <a:pPr lvl="0"/>
            <a:r>
              <a:rPr lang="en-US" b="0">
                <a:solidFill>
                  <a:schemeClr val="bg1">
                    <a:lumMod val="50000"/>
                  </a:schemeClr>
                </a:solidFill>
              </a:rPr>
              <a:t>Unit of Measure</a:t>
            </a:r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68594102-2861-45A3-8FBF-5DD645A1AD47}"/>
              </a:ext>
            </a:extLst>
          </p:cNvPr>
          <p:cNvGrpSpPr/>
          <p:nvPr userDrawn="1"/>
        </p:nvGrpSpPr>
        <p:grpSpPr>
          <a:xfrm>
            <a:off x="10317304" y="3150223"/>
            <a:ext cx="1251160" cy="958286"/>
            <a:chOff x="10162879" y="3243772"/>
            <a:chExt cx="1251160" cy="958286"/>
          </a:xfrm>
        </p:grpSpPr>
        <p:sp>
          <p:nvSpPr>
            <p:cNvPr id="171" name="Legend1">
              <a:extLst>
                <a:ext uri="{FF2B5EF4-FFF2-40B4-BE49-F238E27FC236}">
                  <a16:creationId xmlns:a16="http://schemas.microsoft.com/office/drawing/2014/main" id="{9DDFC9D8-FEDA-4741-B2C7-67F70DB1E191}"/>
                </a:ext>
              </a:extLst>
            </p:cNvPr>
            <p:cNvSpPr txBox="1"/>
            <p:nvPr/>
          </p:nvSpPr>
          <p:spPr>
            <a:xfrm>
              <a:off x="10886522" y="3243772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2">
              <a:extLst>
                <a:ext uri="{FF2B5EF4-FFF2-40B4-BE49-F238E27FC236}">
                  <a16:creationId xmlns:a16="http://schemas.microsoft.com/office/drawing/2014/main" id="{7BCEB3B6-4AF5-42C0-8936-59CD0BE69A11}"/>
                </a:ext>
              </a:extLst>
            </p:cNvPr>
            <p:cNvSpPr txBox="1"/>
            <p:nvPr/>
          </p:nvSpPr>
          <p:spPr>
            <a:xfrm>
              <a:off x="10886522" y="3615193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egend3">
              <a:extLst>
                <a:ext uri="{FF2B5EF4-FFF2-40B4-BE49-F238E27FC236}">
                  <a16:creationId xmlns:a16="http://schemas.microsoft.com/office/drawing/2014/main" id="{EC1F080C-F0C8-4521-B3EC-AA92D56F2DE4}"/>
                </a:ext>
              </a:extLst>
            </p:cNvPr>
            <p:cNvSpPr txBox="1"/>
            <p:nvPr/>
          </p:nvSpPr>
          <p:spPr>
            <a:xfrm>
              <a:off x="10886522" y="3986614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4" name="LineLegend3">
              <a:extLst>
                <a:ext uri="{FF2B5EF4-FFF2-40B4-BE49-F238E27FC236}">
                  <a16:creationId xmlns:a16="http://schemas.microsoft.com/office/drawing/2014/main" id="{F2679376-5BEB-48DF-8EDE-3D40555D174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75" name="LineLegend2">
              <a:extLst>
                <a:ext uri="{FF2B5EF4-FFF2-40B4-BE49-F238E27FC236}">
                  <a16:creationId xmlns:a16="http://schemas.microsoft.com/office/drawing/2014/main" id="{BD20F7ED-8E3E-459F-8566-CD53C06504E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76" name="LineLegend1">
              <a:extLst>
                <a:ext uri="{FF2B5EF4-FFF2-40B4-BE49-F238E27FC236}">
                  <a16:creationId xmlns:a16="http://schemas.microsoft.com/office/drawing/2014/main" id="{875D63AB-51A0-447B-BAE2-5375F036B8F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>
                <a:ea typeface="+mn-ea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46F9841D-00F1-4F61-A86A-2A5E7EBB977C}"/>
              </a:ext>
            </a:extLst>
          </p:cNvPr>
          <p:cNvGrpSpPr/>
          <p:nvPr userDrawn="1"/>
        </p:nvGrpSpPr>
        <p:grpSpPr>
          <a:xfrm>
            <a:off x="10688315" y="1145373"/>
            <a:ext cx="880149" cy="1731859"/>
            <a:chOff x="7723680" y="1702457"/>
            <a:chExt cx="880149" cy="1731859"/>
          </a:xfrm>
        </p:grpSpPr>
        <p:sp>
          <p:nvSpPr>
            <p:cNvPr id="178" name="Legend1">
              <a:extLst>
                <a:ext uri="{FF2B5EF4-FFF2-40B4-BE49-F238E27FC236}">
                  <a16:creationId xmlns:a16="http://schemas.microsoft.com/office/drawing/2014/main" id="{E6B9CF5D-A288-450F-8596-EA9C4F413CF5}"/>
                </a:ext>
              </a:extLst>
            </p:cNvPr>
            <p:cNvSpPr txBox="1"/>
            <p:nvPr/>
          </p:nvSpPr>
          <p:spPr>
            <a:xfrm>
              <a:off x="8076312" y="1709816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6" name="Legend2">
              <a:extLst>
                <a:ext uri="{FF2B5EF4-FFF2-40B4-BE49-F238E27FC236}">
                  <a16:creationId xmlns:a16="http://schemas.microsoft.com/office/drawing/2014/main" id="{8A89757B-9638-435A-9961-DFF8A72AFEFA}"/>
                </a:ext>
              </a:extLst>
            </p:cNvPr>
            <p:cNvSpPr txBox="1"/>
            <p:nvPr/>
          </p:nvSpPr>
          <p:spPr>
            <a:xfrm>
              <a:off x="8076312" y="2085275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8" name="Legend3">
              <a:extLst>
                <a:ext uri="{FF2B5EF4-FFF2-40B4-BE49-F238E27FC236}">
                  <a16:creationId xmlns:a16="http://schemas.microsoft.com/office/drawing/2014/main" id="{92BAC9DB-B234-4818-A322-BDD4F309CCEA}"/>
                </a:ext>
              </a:extLst>
            </p:cNvPr>
            <p:cNvSpPr txBox="1"/>
            <p:nvPr/>
          </p:nvSpPr>
          <p:spPr>
            <a:xfrm>
              <a:off x="8076312" y="2460734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9" name="Legend4">
              <a:extLst>
                <a:ext uri="{FF2B5EF4-FFF2-40B4-BE49-F238E27FC236}">
                  <a16:creationId xmlns:a16="http://schemas.microsoft.com/office/drawing/2014/main" id="{AE609AD8-A384-4EA6-BF9D-561E65C6497A}"/>
                </a:ext>
              </a:extLst>
            </p:cNvPr>
            <p:cNvSpPr txBox="1"/>
            <p:nvPr/>
          </p:nvSpPr>
          <p:spPr>
            <a:xfrm>
              <a:off x="8076312" y="2836193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00" name="Legend5">
              <a:extLst>
                <a:ext uri="{FF2B5EF4-FFF2-40B4-BE49-F238E27FC236}">
                  <a16:creationId xmlns:a16="http://schemas.microsoft.com/office/drawing/2014/main" id="{741D12CE-C8BC-45D2-963C-A5A0CA8845D4}"/>
                </a:ext>
              </a:extLst>
            </p:cNvPr>
            <p:cNvSpPr txBox="1"/>
            <p:nvPr/>
          </p:nvSpPr>
          <p:spPr>
            <a:xfrm>
              <a:off x="8076312" y="3211654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01" name="MoonLegend1">
              <a:extLst>
                <a:ext uri="{FF2B5EF4-FFF2-40B4-BE49-F238E27FC236}">
                  <a16:creationId xmlns:a16="http://schemas.microsoft.com/office/drawing/2014/main" id="{76E2511A-C370-4347-9913-EC5AD3D16E85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FA44242C-C8CF-4D36-AB5D-B6444F41ED23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Arc 214">
                <a:extLst>
                  <a:ext uri="{FF2B5EF4-FFF2-40B4-BE49-F238E27FC236}">
                    <a16:creationId xmlns:a16="http://schemas.microsoft.com/office/drawing/2014/main" id="{084C77E1-4C7C-483D-A5D2-B52A318B0533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2" name="MoonLegend2">
              <a:extLst>
                <a:ext uri="{FF2B5EF4-FFF2-40B4-BE49-F238E27FC236}">
                  <a16:creationId xmlns:a16="http://schemas.microsoft.com/office/drawing/2014/main" id="{8AF83405-AB97-4266-AABE-6252BBAF6AF1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96834D8-BDD0-4B49-A412-20919B63011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Arc 212">
                <a:extLst>
                  <a:ext uri="{FF2B5EF4-FFF2-40B4-BE49-F238E27FC236}">
                    <a16:creationId xmlns:a16="http://schemas.microsoft.com/office/drawing/2014/main" id="{D0DC393C-8262-4071-B18B-3F58A7496BA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3" name="MoonLegend3">
              <a:extLst>
                <a:ext uri="{FF2B5EF4-FFF2-40B4-BE49-F238E27FC236}">
                  <a16:creationId xmlns:a16="http://schemas.microsoft.com/office/drawing/2014/main" id="{6408F4FF-9294-4C1A-B847-C055398F53A2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0EA05B41-923C-47D4-AE53-2C76E71AAE5F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Arc 210">
                <a:extLst>
                  <a:ext uri="{FF2B5EF4-FFF2-40B4-BE49-F238E27FC236}">
                    <a16:creationId xmlns:a16="http://schemas.microsoft.com/office/drawing/2014/main" id="{E9AFCF63-D59C-411E-97A8-4C1806CBB170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4" name="MoonLegend4">
              <a:extLst>
                <a:ext uri="{FF2B5EF4-FFF2-40B4-BE49-F238E27FC236}">
                  <a16:creationId xmlns:a16="http://schemas.microsoft.com/office/drawing/2014/main" id="{54E3665E-D1E7-4ACA-B237-077726295D59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6DB4EC6E-E0FC-4B89-9B01-695CF49B835E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Arc 208">
                <a:extLst>
                  <a:ext uri="{FF2B5EF4-FFF2-40B4-BE49-F238E27FC236}">
                    <a16:creationId xmlns:a16="http://schemas.microsoft.com/office/drawing/2014/main" id="{770655B2-28BF-421E-9A2C-09ACB89A2542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5" name="MoonLegend5">
              <a:extLst>
                <a:ext uri="{FF2B5EF4-FFF2-40B4-BE49-F238E27FC236}">
                  <a16:creationId xmlns:a16="http://schemas.microsoft.com/office/drawing/2014/main" id="{1441387F-9F0E-4748-88E6-F67E43344113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C142F5FE-68C3-4524-8AA9-A2746BFC69C8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Arc 206">
                <a:extLst>
                  <a:ext uri="{FF2B5EF4-FFF2-40B4-BE49-F238E27FC236}">
                    <a16:creationId xmlns:a16="http://schemas.microsoft.com/office/drawing/2014/main" id="{C234B694-511B-4AA2-BC9E-18544B5DC2D4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02EEAAC5-DFBC-47DD-9BBD-4D4E72DCACE8}"/>
              </a:ext>
            </a:extLst>
          </p:cNvPr>
          <p:cNvGrpSpPr/>
          <p:nvPr userDrawn="1"/>
        </p:nvGrpSpPr>
        <p:grpSpPr>
          <a:xfrm>
            <a:off x="10714801" y="4381500"/>
            <a:ext cx="853663" cy="1717282"/>
            <a:chOff x="10652400" y="4322824"/>
            <a:chExt cx="853663" cy="1717282"/>
          </a:xfrm>
        </p:grpSpPr>
        <p:sp>
          <p:nvSpPr>
            <p:cNvPr id="217" name="RectangleLegend1">
              <a:extLst>
                <a:ext uri="{FF2B5EF4-FFF2-40B4-BE49-F238E27FC236}">
                  <a16:creationId xmlns:a16="http://schemas.microsoft.com/office/drawing/2014/main" id="{85F61B26-5C75-47E2-BEE9-457831974819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18" name="RectangleLegend2">
              <a:extLst>
                <a:ext uri="{FF2B5EF4-FFF2-40B4-BE49-F238E27FC236}">
                  <a16:creationId xmlns:a16="http://schemas.microsoft.com/office/drawing/2014/main" id="{8A5CD372-1F08-4CAC-A625-E8A1000E3DAF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19" name="RectangleLegend3">
              <a:extLst>
                <a:ext uri="{FF2B5EF4-FFF2-40B4-BE49-F238E27FC236}">
                  <a16:creationId xmlns:a16="http://schemas.microsoft.com/office/drawing/2014/main" id="{D63D10A1-9A5A-4C8A-8895-A259448D222D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20" name="RectangleLegend4">
              <a:extLst>
                <a:ext uri="{FF2B5EF4-FFF2-40B4-BE49-F238E27FC236}">
                  <a16:creationId xmlns:a16="http://schemas.microsoft.com/office/drawing/2014/main" id="{65376834-26CE-4ED6-8362-DAA993D0AD81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21" name="RectangleLegend5">
              <a:extLst>
                <a:ext uri="{FF2B5EF4-FFF2-40B4-BE49-F238E27FC236}">
                  <a16:creationId xmlns:a16="http://schemas.microsoft.com/office/drawing/2014/main" id="{C64136E7-E1D5-4B24-881F-676A3C543A3F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222" name="Legend1">
              <a:extLst>
                <a:ext uri="{FF2B5EF4-FFF2-40B4-BE49-F238E27FC236}">
                  <a16:creationId xmlns:a16="http://schemas.microsoft.com/office/drawing/2014/main" id="{06FA7F06-E9DA-48DE-AD5C-90D3E00ED76E}"/>
                </a:ext>
              </a:extLst>
            </p:cNvPr>
            <p:cNvSpPr txBox="1"/>
            <p:nvPr/>
          </p:nvSpPr>
          <p:spPr>
            <a:xfrm>
              <a:off x="10978546" y="4322824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3" name="Legend2">
              <a:extLst>
                <a:ext uri="{FF2B5EF4-FFF2-40B4-BE49-F238E27FC236}">
                  <a16:creationId xmlns:a16="http://schemas.microsoft.com/office/drawing/2014/main" id="{96F79E27-B8B5-453B-9688-18D18BF457FA}"/>
                </a:ext>
              </a:extLst>
            </p:cNvPr>
            <p:cNvSpPr txBox="1"/>
            <p:nvPr/>
          </p:nvSpPr>
          <p:spPr>
            <a:xfrm>
              <a:off x="10978546" y="4702322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4" name="Legend3">
              <a:extLst>
                <a:ext uri="{FF2B5EF4-FFF2-40B4-BE49-F238E27FC236}">
                  <a16:creationId xmlns:a16="http://schemas.microsoft.com/office/drawing/2014/main" id="{D6B37DAA-0AE8-44DE-95F9-7FE394ECDD25}"/>
                </a:ext>
              </a:extLst>
            </p:cNvPr>
            <p:cNvSpPr txBox="1"/>
            <p:nvPr/>
          </p:nvSpPr>
          <p:spPr>
            <a:xfrm>
              <a:off x="10978546" y="5081820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5" name="Legend4">
              <a:extLst>
                <a:ext uri="{FF2B5EF4-FFF2-40B4-BE49-F238E27FC236}">
                  <a16:creationId xmlns:a16="http://schemas.microsoft.com/office/drawing/2014/main" id="{3B626917-A23B-4F95-82E2-6A47183E2103}"/>
                </a:ext>
              </a:extLst>
            </p:cNvPr>
            <p:cNvSpPr txBox="1"/>
            <p:nvPr/>
          </p:nvSpPr>
          <p:spPr>
            <a:xfrm>
              <a:off x="10978546" y="5453241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6" name="Legend5">
              <a:extLst>
                <a:ext uri="{FF2B5EF4-FFF2-40B4-BE49-F238E27FC236}">
                  <a16:creationId xmlns:a16="http://schemas.microsoft.com/office/drawing/2014/main" id="{C6269DF4-2B6D-43AB-AC6C-CC7F5C8BC284}"/>
                </a:ext>
              </a:extLst>
            </p:cNvPr>
            <p:cNvSpPr txBox="1"/>
            <p:nvPr/>
          </p:nvSpPr>
          <p:spPr>
            <a:xfrm>
              <a:off x="10978545" y="5824662"/>
              <a:ext cx="5275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sp>
        <p:nvSpPr>
          <p:cNvPr id="148" name="Text Placeholder 3">
            <a:extLst>
              <a:ext uri="{FF2B5EF4-FFF2-40B4-BE49-F238E27FC236}">
                <a16:creationId xmlns:a16="http://schemas.microsoft.com/office/drawing/2014/main" id="{147FDE0F-2D38-4722-ABA1-72BEC08D3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5" y="1874466"/>
            <a:ext cx="505209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4404C9E-D1AA-4CD5-9185-DA9EBEFDCC7F}"/>
              </a:ext>
            </a:extLst>
          </p:cNvPr>
          <p:cNvCxnSpPr>
            <a:cxnSpLocks/>
          </p:cNvCxnSpPr>
          <p:nvPr userDrawn="1"/>
        </p:nvCxnSpPr>
        <p:spPr>
          <a:xfrm>
            <a:off x="556389" y="6248202"/>
            <a:ext cx="11083923" cy="0"/>
          </a:xfrm>
          <a:prstGeom prst="line">
            <a:avLst/>
          </a:prstGeom>
          <a:ln w="6350" cap="flat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98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730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04813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3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8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tags" Target="../tags/tag333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77.svg"/><Relationship Id="rId3" Type="http://schemas.openxmlformats.org/officeDocument/2006/relationships/tags" Target="../tags/tag328.xml"/><Relationship Id="rId7" Type="http://schemas.openxmlformats.org/officeDocument/2006/relationships/tags" Target="../tags/tag332.xml"/><Relationship Id="rId12" Type="http://schemas.openxmlformats.org/officeDocument/2006/relationships/tags" Target="../tags/tag337.xml"/><Relationship Id="rId17" Type="http://schemas.openxmlformats.org/officeDocument/2006/relationships/image" Target="../media/image76.svg"/><Relationship Id="rId2" Type="http://schemas.openxmlformats.org/officeDocument/2006/relationships/tags" Target="../tags/tag327.xml"/><Relationship Id="rId16" Type="http://schemas.openxmlformats.org/officeDocument/2006/relationships/image" Target="../media/image14.emf"/><Relationship Id="rId20" Type="http://schemas.openxmlformats.org/officeDocument/2006/relationships/image" Target="../media/image79.svg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11" Type="http://schemas.openxmlformats.org/officeDocument/2006/relationships/tags" Target="../tags/tag336.xml"/><Relationship Id="rId5" Type="http://schemas.openxmlformats.org/officeDocument/2006/relationships/tags" Target="../tags/tag330.xml"/><Relationship Id="rId15" Type="http://schemas.openxmlformats.org/officeDocument/2006/relationships/oleObject" Target="../embeddings/oleObject42.bin"/><Relationship Id="rId10" Type="http://schemas.openxmlformats.org/officeDocument/2006/relationships/tags" Target="../tags/tag335.xml"/><Relationship Id="rId19" Type="http://schemas.openxmlformats.org/officeDocument/2006/relationships/image" Target="../media/image78.svg"/><Relationship Id="rId4" Type="http://schemas.openxmlformats.org/officeDocument/2006/relationships/tags" Target="../tags/tag329.xml"/><Relationship Id="rId9" Type="http://schemas.openxmlformats.org/officeDocument/2006/relationships/tags" Target="../tags/tag334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880.png"/><Relationship Id="rId3" Type="http://schemas.openxmlformats.org/officeDocument/2006/relationships/tags" Target="../tags/tag340.xml"/><Relationship Id="rId7" Type="http://schemas.openxmlformats.org/officeDocument/2006/relationships/tags" Target="../tags/tag344.xml"/><Relationship Id="rId12" Type="http://schemas.openxmlformats.org/officeDocument/2006/relationships/tags" Target="../tags/tag3310.xml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11" Type="http://schemas.openxmlformats.org/officeDocument/2006/relationships/image" Target="../media/image14.emf"/><Relationship Id="rId5" Type="http://schemas.openxmlformats.org/officeDocument/2006/relationships/tags" Target="../tags/tag342.xml"/><Relationship Id="rId10" Type="http://schemas.openxmlformats.org/officeDocument/2006/relationships/oleObject" Target="../embeddings/oleObject43.bin"/><Relationship Id="rId4" Type="http://schemas.openxmlformats.org/officeDocument/2006/relationships/tags" Target="../tags/tag341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tags" Target="../tags/tag347.xml"/><Relationship Id="rId7" Type="http://schemas.openxmlformats.org/officeDocument/2006/relationships/slideLayout" Target="../slideLayouts/slideLayout40.xml"/><Relationship Id="rId2" Type="http://schemas.openxmlformats.org/officeDocument/2006/relationships/tags" Target="../tags/tag346.xml"/><Relationship Id="rId1" Type="http://schemas.openxmlformats.org/officeDocument/2006/relationships/tags" Target="../tags/tag345.xml"/><Relationship Id="rId6" Type="http://schemas.openxmlformats.org/officeDocument/2006/relationships/tags" Target="../tags/tag350.xml"/><Relationship Id="rId11" Type="http://schemas.openxmlformats.org/officeDocument/2006/relationships/image" Target="../media/image900.png"/><Relationship Id="rId5" Type="http://schemas.openxmlformats.org/officeDocument/2006/relationships/tags" Target="../tags/tag349.xml"/><Relationship Id="rId10" Type="http://schemas.openxmlformats.org/officeDocument/2006/relationships/tags" Target="../tags/tag3370.xml"/><Relationship Id="rId4" Type="http://schemas.openxmlformats.org/officeDocument/2006/relationships/tags" Target="../tags/tag348.xml"/><Relationship Id="rId9" Type="http://schemas.openxmlformats.org/officeDocument/2006/relationships/image" Target="../media/image80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tags" Target="../tags/tag353.xml"/><Relationship Id="rId7" Type="http://schemas.openxmlformats.org/officeDocument/2006/relationships/slideLayout" Target="../slideLayouts/slideLayout40.xml"/><Relationship Id="rId2" Type="http://schemas.openxmlformats.org/officeDocument/2006/relationships/tags" Target="../tags/tag352.xml"/><Relationship Id="rId1" Type="http://schemas.openxmlformats.org/officeDocument/2006/relationships/tags" Target="../tags/tag351.xml"/><Relationship Id="rId6" Type="http://schemas.openxmlformats.org/officeDocument/2006/relationships/tags" Target="../tags/tag356.xml"/><Relationship Id="rId11" Type="http://schemas.openxmlformats.org/officeDocument/2006/relationships/image" Target="../media/image910.png"/><Relationship Id="rId5" Type="http://schemas.openxmlformats.org/officeDocument/2006/relationships/tags" Target="../tags/tag355.xml"/><Relationship Id="rId10" Type="http://schemas.openxmlformats.org/officeDocument/2006/relationships/image" Target="../media/image14.emf"/><Relationship Id="rId4" Type="http://schemas.openxmlformats.org/officeDocument/2006/relationships/tags" Target="../tags/tag354.xml"/><Relationship Id="rId9" Type="http://schemas.openxmlformats.org/officeDocument/2006/relationships/oleObject" Target="../embeddings/oleObject45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tags" Target="../tags/tag359.xml"/><Relationship Id="rId7" Type="http://schemas.openxmlformats.org/officeDocument/2006/relationships/oleObject" Target="../embeddings/oleObject46.bin"/><Relationship Id="rId2" Type="http://schemas.openxmlformats.org/officeDocument/2006/relationships/tags" Target="../tags/tag358.xml"/><Relationship Id="rId1" Type="http://schemas.openxmlformats.org/officeDocument/2006/relationships/tags" Target="../tags/tag357.xml"/><Relationship Id="rId6" Type="http://schemas.openxmlformats.org/officeDocument/2006/relationships/slideLayout" Target="../slideLayouts/slideLayout40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9" Type="http://schemas.openxmlformats.org/officeDocument/2006/relationships/image" Target="../media/image920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tags" Target="../tags/tag364.xml"/><Relationship Id="rId7" Type="http://schemas.openxmlformats.org/officeDocument/2006/relationships/oleObject" Target="../embeddings/oleObject47.bin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6" Type="http://schemas.openxmlformats.org/officeDocument/2006/relationships/slideLayout" Target="../slideLayouts/slideLayout40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9" Type="http://schemas.openxmlformats.org/officeDocument/2006/relationships/image" Target="../media/image930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tags" Target="../tags/tag369.xml"/><Relationship Id="rId7" Type="http://schemas.openxmlformats.org/officeDocument/2006/relationships/oleObject" Target="../embeddings/oleObject48.bin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6" Type="http://schemas.openxmlformats.org/officeDocument/2006/relationships/slideLayout" Target="../slideLayouts/slideLayout40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9" Type="http://schemas.openxmlformats.org/officeDocument/2006/relationships/image" Target="../media/image940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6096000" y="0"/>
            <a:ext cx="6028644" cy="3299367"/>
          </a:xfrm>
          <a:custGeom>
            <a:avLst/>
            <a:gdLst>
              <a:gd name="connsiteX0" fmla="*/ 0 w 6656628"/>
              <a:gd name="connsiteY0" fmla="*/ 0 h 3634269"/>
              <a:gd name="connsiteX1" fmla="*/ 6656628 w 6656628"/>
              <a:gd name="connsiteY1" fmla="*/ 0 h 3634269"/>
              <a:gd name="connsiteX2" fmla="*/ 6656628 w 6656628"/>
              <a:gd name="connsiteY2" fmla="*/ 3634269 h 3634269"/>
              <a:gd name="connsiteX3" fmla="*/ 0 w 6656628"/>
              <a:gd name="connsiteY3" fmla="*/ 3634269 h 3634269"/>
              <a:gd name="connsiteX4" fmla="*/ 0 w 6656628"/>
              <a:gd name="connsiteY4" fmla="*/ 0 h 3634269"/>
              <a:gd name="connsiteX0" fmla="*/ 0 w 6656628"/>
              <a:gd name="connsiteY0" fmla="*/ 0 h 3634269"/>
              <a:gd name="connsiteX1" fmla="*/ 6656628 w 6656628"/>
              <a:gd name="connsiteY1" fmla="*/ 0 h 3634269"/>
              <a:gd name="connsiteX2" fmla="*/ 6656628 w 6656628"/>
              <a:gd name="connsiteY2" fmla="*/ 3634269 h 3634269"/>
              <a:gd name="connsiteX3" fmla="*/ 4312228 w 6656628"/>
              <a:gd name="connsiteY3" fmla="*/ 2034069 h 3634269"/>
              <a:gd name="connsiteX4" fmla="*/ 0 w 6656628"/>
              <a:gd name="connsiteY4" fmla="*/ 0 h 3634269"/>
              <a:gd name="connsiteX0" fmla="*/ 0 w 6656628"/>
              <a:gd name="connsiteY0" fmla="*/ 0 h 3634269"/>
              <a:gd name="connsiteX1" fmla="*/ 6656628 w 6656628"/>
              <a:gd name="connsiteY1" fmla="*/ 0 h 3634269"/>
              <a:gd name="connsiteX2" fmla="*/ 6656628 w 6656628"/>
              <a:gd name="connsiteY2" fmla="*/ 3634269 h 3634269"/>
              <a:gd name="connsiteX3" fmla="*/ 2691246 w 6656628"/>
              <a:gd name="connsiteY3" fmla="*/ 2782215 h 3634269"/>
              <a:gd name="connsiteX4" fmla="*/ 0 w 6656628"/>
              <a:gd name="connsiteY4" fmla="*/ 0 h 3634269"/>
              <a:gd name="connsiteX0" fmla="*/ 0 w 6656628"/>
              <a:gd name="connsiteY0" fmla="*/ 0 h 3634269"/>
              <a:gd name="connsiteX1" fmla="*/ 6656628 w 6656628"/>
              <a:gd name="connsiteY1" fmla="*/ 0 h 3634269"/>
              <a:gd name="connsiteX2" fmla="*/ 6656628 w 6656628"/>
              <a:gd name="connsiteY2" fmla="*/ 3634269 h 3634269"/>
              <a:gd name="connsiteX3" fmla="*/ 2691246 w 6656628"/>
              <a:gd name="connsiteY3" fmla="*/ 2782215 h 3634269"/>
              <a:gd name="connsiteX4" fmla="*/ 0 w 6656628"/>
              <a:gd name="connsiteY4" fmla="*/ 0 h 3634269"/>
              <a:gd name="connsiteX0" fmla="*/ 0 w 6656628"/>
              <a:gd name="connsiteY0" fmla="*/ 0 h 3634269"/>
              <a:gd name="connsiteX1" fmla="*/ 6656628 w 6656628"/>
              <a:gd name="connsiteY1" fmla="*/ 0 h 3634269"/>
              <a:gd name="connsiteX2" fmla="*/ 6656628 w 6656628"/>
              <a:gd name="connsiteY2" fmla="*/ 3634269 h 3634269"/>
              <a:gd name="connsiteX3" fmla="*/ 2691246 w 6656628"/>
              <a:gd name="connsiteY3" fmla="*/ 2782215 h 3634269"/>
              <a:gd name="connsiteX4" fmla="*/ 0 w 6656628"/>
              <a:gd name="connsiteY4" fmla="*/ 0 h 3634269"/>
              <a:gd name="connsiteX0" fmla="*/ 0 w 6656628"/>
              <a:gd name="connsiteY0" fmla="*/ 0 h 3634269"/>
              <a:gd name="connsiteX1" fmla="*/ 6656628 w 6656628"/>
              <a:gd name="connsiteY1" fmla="*/ 0 h 3634269"/>
              <a:gd name="connsiteX2" fmla="*/ 6656628 w 6656628"/>
              <a:gd name="connsiteY2" fmla="*/ 3634269 h 3634269"/>
              <a:gd name="connsiteX3" fmla="*/ 2691246 w 6656628"/>
              <a:gd name="connsiteY3" fmla="*/ 2782215 h 3634269"/>
              <a:gd name="connsiteX4" fmla="*/ 0 w 6656628"/>
              <a:gd name="connsiteY4" fmla="*/ 0 h 3634269"/>
              <a:gd name="connsiteX0" fmla="*/ 0 w 6656628"/>
              <a:gd name="connsiteY0" fmla="*/ 0 h 3643051"/>
              <a:gd name="connsiteX1" fmla="*/ 6656628 w 6656628"/>
              <a:gd name="connsiteY1" fmla="*/ 0 h 3643051"/>
              <a:gd name="connsiteX2" fmla="*/ 6656628 w 6656628"/>
              <a:gd name="connsiteY2" fmla="*/ 3634269 h 3643051"/>
              <a:gd name="connsiteX3" fmla="*/ 2691246 w 6656628"/>
              <a:gd name="connsiteY3" fmla="*/ 2782215 h 3643051"/>
              <a:gd name="connsiteX4" fmla="*/ 0 w 6656628"/>
              <a:gd name="connsiteY4" fmla="*/ 0 h 364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6628" h="3643051">
                <a:moveTo>
                  <a:pt x="0" y="0"/>
                </a:moveTo>
                <a:lnTo>
                  <a:pt x="6656628" y="0"/>
                </a:lnTo>
                <a:lnTo>
                  <a:pt x="6656628" y="3634269"/>
                </a:lnTo>
                <a:cubicBezTo>
                  <a:pt x="5282879" y="3693151"/>
                  <a:pt x="3898740" y="3461088"/>
                  <a:pt x="2691246" y="2782215"/>
                </a:cubicBezTo>
                <a:cubicBezTo>
                  <a:pt x="1482436" y="2062628"/>
                  <a:pt x="637309" y="1156005"/>
                  <a:pt x="0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8172"/>
            <a:endParaRPr lang="es-UY" sz="163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4313"/>
            <a:ext cx="7075403" cy="6849374"/>
          </a:xfrm>
          <a:custGeom>
            <a:avLst/>
            <a:gdLst>
              <a:gd name="connsiteX0" fmla="*/ 0 w 6654800"/>
              <a:gd name="connsiteY0" fmla="*/ 0 h 7562850"/>
              <a:gd name="connsiteX1" fmla="*/ 6654800 w 6654800"/>
              <a:gd name="connsiteY1" fmla="*/ 0 h 7562850"/>
              <a:gd name="connsiteX2" fmla="*/ 6654800 w 6654800"/>
              <a:gd name="connsiteY2" fmla="*/ 7562850 h 7562850"/>
              <a:gd name="connsiteX3" fmla="*/ 0 w 6654800"/>
              <a:gd name="connsiteY3" fmla="*/ 7562850 h 7562850"/>
              <a:gd name="connsiteX4" fmla="*/ 0 w 6654800"/>
              <a:gd name="connsiteY4" fmla="*/ 0 h 7562850"/>
              <a:gd name="connsiteX0" fmla="*/ 0 w 7426036"/>
              <a:gd name="connsiteY0" fmla="*/ 0 h 7562850"/>
              <a:gd name="connsiteX1" fmla="*/ 6654800 w 7426036"/>
              <a:gd name="connsiteY1" fmla="*/ 0 h 7562850"/>
              <a:gd name="connsiteX2" fmla="*/ 6654800 w 7426036"/>
              <a:gd name="connsiteY2" fmla="*/ 7562850 h 7562850"/>
              <a:gd name="connsiteX3" fmla="*/ 0 w 7426036"/>
              <a:gd name="connsiteY3" fmla="*/ 7562850 h 7562850"/>
              <a:gd name="connsiteX4" fmla="*/ 0 w 7426036"/>
              <a:gd name="connsiteY4" fmla="*/ 0 h 7562850"/>
              <a:gd name="connsiteX0" fmla="*/ 0 w 7802035"/>
              <a:gd name="connsiteY0" fmla="*/ 0 h 7562850"/>
              <a:gd name="connsiteX1" fmla="*/ 6654800 w 7802035"/>
              <a:gd name="connsiteY1" fmla="*/ 0 h 7562850"/>
              <a:gd name="connsiteX2" fmla="*/ 6654800 w 7802035"/>
              <a:gd name="connsiteY2" fmla="*/ 7562850 h 7562850"/>
              <a:gd name="connsiteX3" fmla="*/ 0 w 7802035"/>
              <a:gd name="connsiteY3" fmla="*/ 7562850 h 7562850"/>
              <a:gd name="connsiteX4" fmla="*/ 0 w 7802035"/>
              <a:gd name="connsiteY4" fmla="*/ 0 h 7562850"/>
              <a:gd name="connsiteX0" fmla="*/ 0 w 7797892"/>
              <a:gd name="connsiteY0" fmla="*/ 0 h 7562850"/>
              <a:gd name="connsiteX1" fmla="*/ 6654800 w 7797892"/>
              <a:gd name="connsiteY1" fmla="*/ 0 h 7562850"/>
              <a:gd name="connsiteX2" fmla="*/ 6654800 w 7797892"/>
              <a:gd name="connsiteY2" fmla="*/ 7562850 h 7562850"/>
              <a:gd name="connsiteX3" fmla="*/ 0 w 7797892"/>
              <a:gd name="connsiteY3" fmla="*/ 7562850 h 7562850"/>
              <a:gd name="connsiteX4" fmla="*/ 0 w 7797892"/>
              <a:gd name="connsiteY4" fmla="*/ 0 h 7562850"/>
              <a:gd name="connsiteX0" fmla="*/ 0 w 7812424"/>
              <a:gd name="connsiteY0" fmla="*/ 0 h 7562850"/>
              <a:gd name="connsiteX1" fmla="*/ 6654800 w 7812424"/>
              <a:gd name="connsiteY1" fmla="*/ 0 h 7562850"/>
              <a:gd name="connsiteX2" fmla="*/ 6654800 w 7812424"/>
              <a:gd name="connsiteY2" fmla="*/ 7562850 h 7562850"/>
              <a:gd name="connsiteX3" fmla="*/ 0 w 7812424"/>
              <a:gd name="connsiteY3" fmla="*/ 7562850 h 7562850"/>
              <a:gd name="connsiteX4" fmla="*/ 0 w 7812424"/>
              <a:gd name="connsiteY4" fmla="*/ 0 h 756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2424" h="7562850">
                <a:moveTo>
                  <a:pt x="0" y="0"/>
                </a:moveTo>
                <a:lnTo>
                  <a:pt x="6654800" y="0"/>
                </a:lnTo>
                <a:cubicBezTo>
                  <a:pt x="8005618" y="1866323"/>
                  <a:pt x="8379690" y="5197764"/>
                  <a:pt x="6654800" y="7562850"/>
                </a:cubicBezTo>
                <a:lnTo>
                  <a:pt x="0" y="75628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8172"/>
            <a:endParaRPr lang="es-UY" sz="163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ángulo 9"/>
          <p:cNvSpPr/>
          <p:nvPr/>
        </p:nvSpPr>
        <p:spPr>
          <a:xfrm>
            <a:off x="6191174" y="3400309"/>
            <a:ext cx="6002631" cy="3450800"/>
          </a:xfrm>
          <a:custGeom>
            <a:avLst/>
            <a:gdLst>
              <a:gd name="connsiteX0" fmla="*/ 0 w 6627905"/>
              <a:gd name="connsiteY0" fmla="*/ 0 h 3781425"/>
              <a:gd name="connsiteX1" fmla="*/ 6627905 w 6627905"/>
              <a:gd name="connsiteY1" fmla="*/ 0 h 3781425"/>
              <a:gd name="connsiteX2" fmla="*/ 6627905 w 6627905"/>
              <a:gd name="connsiteY2" fmla="*/ 3781425 h 3781425"/>
              <a:gd name="connsiteX3" fmla="*/ 0 w 6627905"/>
              <a:gd name="connsiteY3" fmla="*/ 3781425 h 3781425"/>
              <a:gd name="connsiteX4" fmla="*/ 0 w 6627905"/>
              <a:gd name="connsiteY4" fmla="*/ 0 h 3781425"/>
              <a:gd name="connsiteX0" fmla="*/ 3532909 w 6627905"/>
              <a:gd name="connsiteY0" fmla="*/ 2140527 h 3781425"/>
              <a:gd name="connsiteX1" fmla="*/ 6627905 w 6627905"/>
              <a:gd name="connsiteY1" fmla="*/ 0 h 3781425"/>
              <a:gd name="connsiteX2" fmla="*/ 6627905 w 6627905"/>
              <a:gd name="connsiteY2" fmla="*/ 3781425 h 3781425"/>
              <a:gd name="connsiteX3" fmla="*/ 0 w 6627905"/>
              <a:gd name="connsiteY3" fmla="*/ 3781425 h 3781425"/>
              <a:gd name="connsiteX4" fmla="*/ 3532909 w 6627905"/>
              <a:gd name="connsiteY4" fmla="*/ 2140527 h 3781425"/>
              <a:gd name="connsiteX0" fmla="*/ 2680855 w 6627905"/>
              <a:gd name="connsiteY0" fmla="*/ 914400 h 3781425"/>
              <a:gd name="connsiteX1" fmla="*/ 6627905 w 6627905"/>
              <a:gd name="connsiteY1" fmla="*/ 0 h 3781425"/>
              <a:gd name="connsiteX2" fmla="*/ 6627905 w 6627905"/>
              <a:gd name="connsiteY2" fmla="*/ 3781425 h 3781425"/>
              <a:gd name="connsiteX3" fmla="*/ 0 w 6627905"/>
              <a:gd name="connsiteY3" fmla="*/ 3781425 h 3781425"/>
              <a:gd name="connsiteX4" fmla="*/ 2680855 w 6627905"/>
              <a:gd name="connsiteY4" fmla="*/ 914400 h 3781425"/>
              <a:gd name="connsiteX0" fmla="*/ 2680855 w 6627905"/>
              <a:gd name="connsiteY0" fmla="*/ 914400 h 3781425"/>
              <a:gd name="connsiteX1" fmla="*/ 6627905 w 6627905"/>
              <a:gd name="connsiteY1" fmla="*/ 0 h 3781425"/>
              <a:gd name="connsiteX2" fmla="*/ 6627905 w 6627905"/>
              <a:gd name="connsiteY2" fmla="*/ 3781425 h 3781425"/>
              <a:gd name="connsiteX3" fmla="*/ 0 w 6627905"/>
              <a:gd name="connsiteY3" fmla="*/ 3781425 h 3781425"/>
              <a:gd name="connsiteX4" fmla="*/ 2680855 w 6627905"/>
              <a:gd name="connsiteY4" fmla="*/ 914400 h 3781425"/>
              <a:gd name="connsiteX0" fmla="*/ 2680855 w 6627905"/>
              <a:gd name="connsiteY0" fmla="*/ 914400 h 3781425"/>
              <a:gd name="connsiteX1" fmla="*/ 6627905 w 6627905"/>
              <a:gd name="connsiteY1" fmla="*/ 0 h 3781425"/>
              <a:gd name="connsiteX2" fmla="*/ 6627905 w 6627905"/>
              <a:gd name="connsiteY2" fmla="*/ 3781425 h 3781425"/>
              <a:gd name="connsiteX3" fmla="*/ 0 w 6627905"/>
              <a:gd name="connsiteY3" fmla="*/ 3781425 h 3781425"/>
              <a:gd name="connsiteX4" fmla="*/ 2680855 w 6627905"/>
              <a:gd name="connsiteY4" fmla="*/ 914400 h 3781425"/>
              <a:gd name="connsiteX0" fmla="*/ 2680855 w 6627905"/>
              <a:gd name="connsiteY0" fmla="*/ 914400 h 3781425"/>
              <a:gd name="connsiteX1" fmla="*/ 6627905 w 6627905"/>
              <a:gd name="connsiteY1" fmla="*/ 0 h 3781425"/>
              <a:gd name="connsiteX2" fmla="*/ 6627905 w 6627905"/>
              <a:gd name="connsiteY2" fmla="*/ 3781425 h 3781425"/>
              <a:gd name="connsiteX3" fmla="*/ 0 w 6627905"/>
              <a:gd name="connsiteY3" fmla="*/ 3781425 h 3781425"/>
              <a:gd name="connsiteX4" fmla="*/ 2680855 w 6627905"/>
              <a:gd name="connsiteY4" fmla="*/ 914400 h 3781425"/>
              <a:gd name="connsiteX0" fmla="*/ 2680855 w 6627905"/>
              <a:gd name="connsiteY0" fmla="*/ 943233 h 3810258"/>
              <a:gd name="connsiteX1" fmla="*/ 6627905 w 6627905"/>
              <a:gd name="connsiteY1" fmla="*/ 28833 h 3810258"/>
              <a:gd name="connsiteX2" fmla="*/ 6627905 w 6627905"/>
              <a:gd name="connsiteY2" fmla="*/ 3810258 h 3810258"/>
              <a:gd name="connsiteX3" fmla="*/ 0 w 6627905"/>
              <a:gd name="connsiteY3" fmla="*/ 3810258 h 3810258"/>
              <a:gd name="connsiteX4" fmla="*/ 2680855 w 6627905"/>
              <a:gd name="connsiteY4" fmla="*/ 943233 h 3810258"/>
              <a:gd name="connsiteX0" fmla="*/ 2680855 w 6627905"/>
              <a:gd name="connsiteY0" fmla="*/ 943233 h 3810258"/>
              <a:gd name="connsiteX1" fmla="*/ 6627905 w 6627905"/>
              <a:gd name="connsiteY1" fmla="*/ 28833 h 3810258"/>
              <a:gd name="connsiteX2" fmla="*/ 6627905 w 6627905"/>
              <a:gd name="connsiteY2" fmla="*/ 3810258 h 3810258"/>
              <a:gd name="connsiteX3" fmla="*/ 0 w 6627905"/>
              <a:gd name="connsiteY3" fmla="*/ 3810258 h 3810258"/>
              <a:gd name="connsiteX4" fmla="*/ 2680855 w 6627905"/>
              <a:gd name="connsiteY4" fmla="*/ 943233 h 3810258"/>
              <a:gd name="connsiteX0" fmla="*/ 2680855 w 6627905"/>
              <a:gd name="connsiteY0" fmla="*/ 943233 h 3810258"/>
              <a:gd name="connsiteX1" fmla="*/ 6627905 w 6627905"/>
              <a:gd name="connsiteY1" fmla="*/ 28833 h 3810258"/>
              <a:gd name="connsiteX2" fmla="*/ 6627905 w 6627905"/>
              <a:gd name="connsiteY2" fmla="*/ 3810258 h 3810258"/>
              <a:gd name="connsiteX3" fmla="*/ 0 w 6627905"/>
              <a:gd name="connsiteY3" fmla="*/ 3810258 h 3810258"/>
              <a:gd name="connsiteX4" fmla="*/ 2680855 w 6627905"/>
              <a:gd name="connsiteY4" fmla="*/ 943233 h 381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7905" h="3810258">
                <a:moveTo>
                  <a:pt x="2680855" y="943233"/>
                </a:moveTo>
                <a:cubicBezTo>
                  <a:pt x="4017320" y="160451"/>
                  <a:pt x="5571994" y="-92394"/>
                  <a:pt x="6627905" y="28833"/>
                </a:cubicBezTo>
                <a:lnTo>
                  <a:pt x="6627905" y="3810258"/>
                </a:lnTo>
                <a:lnTo>
                  <a:pt x="0" y="3810258"/>
                </a:lnTo>
                <a:cubicBezTo>
                  <a:pt x="550718" y="2792238"/>
                  <a:pt x="1330037" y="1711871"/>
                  <a:pt x="2680855" y="943233"/>
                </a:cubicBezTo>
                <a:close/>
              </a:path>
            </a:pathLst>
          </a:custGeom>
          <a:solidFill>
            <a:srgbClr val="008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8172"/>
            <a:endParaRPr lang="es-UY" sz="163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object 4"/>
          <p:cNvSpPr txBox="1"/>
          <p:nvPr/>
        </p:nvSpPr>
        <p:spPr>
          <a:xfrm>
            <a:off x="7417691" y="5223028"/>
            <a:ext cx="486716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S&amp;OP Ciclo: Junio 26</a:t>
            </a:r>
            <a:endParaRPr lang="es-UY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8"/>
          <p:cNvSpPr txBox="1"/>
          <p:nvPr/>
        </p:nvSpPr>
        <p:spPr>
          <a:xfrm>
            <a:off x="8167697" y="5754857"/>
            <a:ext cx="372525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02" defTabSz="828172">
              <a:lnSpc>
                <a:spcPts val="2355"/>
              </a:lnSpc>
            </a:pPr>
            <a:r>
              <a:rPr lang="es-ES" sz="2128" spc="-5" dirty="0">
                <a:solidFill>
                  <a:prstClr val="white"/>
                </a:solidFill>
                <a:latin typeface="Barlow"/>
                <a:cs typeface="Barlow"/>
              </a:rPr>
              <a:t>Informe de plantas productivas</a:t>
            </a:r>
          </a:p>
          <a:p>
            <a:pPr marL="11502" defTabSz="828172">
              <a:lnSpc>
                <a:spcPts val="2355"/>
              </a:lnSpc>
            </a:pPr>
            <a:r>
              <a:rPr lang="es-ES" sz="2128" spc="-5" dirty="0">
                <a:solidFill>
                  <a:prstClr val="white"/>
                </a:solidFill>
                <a:latin typeface="Barlow"/>
                <a:cs typeface="Barlow"/>
              </a:rPr>
              <a:t>Reunión de suministro</a:t>
            </a: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211" y="2644205"/>
            <a:ext cx="2826322" cy="131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4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EB5D4D1-D468-40A7-93D6-8BEEEA92D516}"/>
              </a:ext>
            </a:extLst>
          </p:cNvPr>
          <p:cNvSpPr/>
          <p:nvPr/>
        </p:nvSpPr>
        <p:spPr>
          <a:xfrm>
            <a:off x="5310856" y="1020167"/>
            <a:ext cx="5474896" cy="428736"/>
          </a:xfrm>
          <a:prstGeom prst="rect">
            <a:avLst/>
          </a:prstGeom>
          <a:solidFill>
            <a:srgbClr val="00A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8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1" y="3336"/>
            <a:ext cx="3979188" cy="2806941"/>
          </a:xfrm>
          <a:custGeom>
            <a:avLst/>
            <a:gdLst>
              <a:gd name="connsiteX0" fmla="*/ 0 w 4393687"/>
              <a:gd name="connsiteY0" fmla="*/ 0 h 3099331"/>
              <a:gd name="connsiteX1" fmla="*/ 4393687 w 4393687"/>
              <a:gd name="connsiteY1" fmla="*/ 0 h 3099331"/>
              <a:gd name="connsiteX2" fmla="*/ 4393687 w 4393687"/>
              <a:gd name="connsiteY2" fmla="*/ 3099331 h 3099331"/>
              <a:gd name="connsiteX3" fmla="*/ 0 w 4393687"/>
              <a:gd name="connsiteY3" fmla="*/ 3099331 h 3099331"/>
              <a:gd name="connsiteX4" fmla="*/ 0 w 4393687"/>
              <a:gd name="connsiteY4" fmla="*/ 0 h 3099331"/>
              <a:gd name="connsiteX0" fmla="*/ 0 w 4393687"/>
              <a:gd name="connsiteY0" fmla="*/ 0 h 3099331"/>
              <a:gd name="connsiteX1" fmla="*/ 4393687 w 4393687"/>
              <a:gd name="connsiteY1" fmla="*/ 0 h 3099331"/>
              <a:gd name="connsiteX2" fmla="*/ 1498087 w 4393687"/>
              <a:gd name="connsiteY2" fmla="*/ 1054631 h 3099331"/>
              <a:gd name="connsiteX3" fmla="*/ 0 w 4393687"/>
              <a:gd name="connsiteY3" fmla="*/ 3099331 h 3099331"/>
              <a:gd name="connsiteX4" fmla="*/ 0 w 4393687"/>
              <a:gd name="connsiteY4" fmla="*/ 0 h 3099331"/>
              <a:gd name="connsiteX0" fmla="*/ 0 w 4393687"/>
              <a:gd name="connsiteY0" fmla="*/ 0 h 3099331"/>
              <a:gd name="connsiteX1" fmla="*/ 4393687 w 4393687"/>
              <a:gd name="connsiteY1" fmla="*/ 0 h 3099331"/>
              <a:gd name="connsiteX2" fmla="*/ 2552187 w 4393687"/>
              <a:gd name="connsiteY2" fmla="*/ 2159531 h 3099331"/>
              <a:gd name="connsiteX3" fmla="*/ 0 w 4393687"/>
              <a:gd name="connsiteY3" fmla="*/ 3099331 h 3099331"/>
              <a:gd name="connsiteX4" fmla="*/ 0 w 4393687"/>
              <a:gd name="connsiteY4" fmla="*/ 0 h 3099331"/>
              <a:gd name="connsiteX0" fmla="*/ 0 w 4393687"/>
              <a:gd name="connsiteY0" fmla="*/ 0 h 3099331"/>
              <a:gd name="connsiteX1" fmla="*/ 4393687 w 4393687"/>
              <a:gd name="connsiteY1" fmla="*/ 0 h 3099331"/>
              <a:gd name="connsiteX2" fmla="*/ 2552187 w 4393687"/>
              <a:gd name="connsiteY2" fmla="*/ 2159531 h 3099331"/>
              <a:gd name="connsiteX3" fmla="*/ 0 w 4393687"/>
              <a:gd name="connsiteY3" fmla="*/ 3099331 h 3099331"/>
              <a:gd name="connsiteX4" fmla="*/ 0 w 4393687"/>
              <a:gd name="connsiteY4" fmla="*/ 0 h 3099331"/>
              <a:gd name="connsiteX0" fmla="*/ 0 w 4393687"/>
              <a:gd name="connsiteY0" fmla="*/ 0 h 3099331"/>
              <a:gd name="connsiteX1" fmla="*/ 4393687 w 4393687"/>
              <a:gd name="connsiteY1" fmla="*/ 0 h 3099331"/>
              <a:gd name="connsiteX2" fmla="*/ 2552187 w 4393687"/>
              <a:gd name="connsiteY2" fmla="*/ 2159531 h 3099331"/>
              <a:gd name="connsiteX3" fmla="*/ 0 w 4393687"/>
              <a:gd name="connsiteY3" fmla="*/ 3099331 h 3099331"/>
              <a:gd name="connsiteX4" fmla="*/ 0 w 4393687"/>
              <a:gd name="connsiteY4" fmla="*/ 0 h 3099331"/>
              <a:gd name="connsiteX0" fmla="*/ 0 w 4393687"/>
              <a:gd name="connsiteY0" fmla="*/ 0 h 3099331"/>
              <a:gd name="connsiteX1" fmla="*/ 4393687 w 4393687"/>
              <a:gd name="connsiteY1" fmla="*/ 0 h 3099331"/>
              <a:gd name="connsiteX2" fmla="*/ 2552187 w 4393687"/>
              <a:gd name="connsiteY2" fmla="*/ 2159531 h 3099331"/>
              <a:gd name="connsiteX3" fmla="*/ 0 w 4393687"/>
              <a:gd name="connsiteY3" fmla="*/ 3099331 h 3099331"/>
              <a:gd name="connsiteX4" fmla="*/ 0 w 4393687"/>
              <a:gd name="connsiteY4" fmla="*/ 0 h 3099331"/>
              <a:gd name="connsiteX0" fmla="*/ 0 w 4393687"/>
              <a:gd name="connsiteY0" fmla="*/ 0 h 3099331"/>
              <a:gd name="connsiteX1" fmla="*/ 4393687 w 4393687"/>
              <a:gd name="connsiteY1" fmla="*/ 0 h 3099331"/>
              <a:gd name="connsiteX2" fmla="*/ 2552187 w 4393687"/>
              <a:gd name="connsiteY2" fmla="*/ 2159531 h 3099331"/>
              <a:gd name="connsiteX3" fmla="*/ 0 w 4393687"/>
              <a:gd name="connsiteY3" fmla="*/ 3099331 h 3099331"/>
              <a:gd name="connsiteX4" fmla="*/ 0 w 4393687"/>
              <a:gd name="connsiteY4" fmla="*/ 0 h 3099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3687" h="3099331">
                <a:moveTo>
                  <a:pt x="0" y="0"/>
                </a:moveTo>
                <a:lnTo>
                  <a:pt x="4393687" y="0"/>
                </a:lnTo>
                <a:cubicBezTo>
                  <a:pt x="3995754" y="757944"/>
                  <a:pt x="3458120" y="1541287"/>
                  <a:pt x="2552187" y="2159531"/>
                </a:cubicBezTo>
                <a:cubicBezTo>
                  <a:pt x="1650658" y="2802998"/>
                  <a:pt x="749129" y="3014664"/>
                  <a:pt x="0" y="3099331"/>
                </a:cubicBezTo>
                <a:lnTo>
                  <a:pt x="0" y="0"/>
                </a:lnTo>
                <a:close/>
              </a:path>
            </a:pathLst>
          </a:custGeom>
          <a:solidFill>
            <a:srgbClr val="04A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8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163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2726320" y="5722849"/>
            <a:ext cx="9465681" cy="1135639"/>
          </a:xfrm>
          <a:custGeom>
            <a:avLst/>
            <a:gdLst>
              <a:gd name="connsiteX0" fmla="*/ 0 w 10451689"/>
              <a:gd name="connsiteY0" fmla="*/ 0 h 885825"/>
              <a:gd name="connsiteX1" fmla="*/ 10451689 w 10451689"/>
              <a:gd name="connsiteY1" fmla="*/ 0 h 885825"/>
              <a:gd name="connsiteX2" fmla="*/ 10451689 w 10451689"/>
              <a:gd name="connsiteY2" fmla="*/ 885825 h 885825"/>
              <a:gd name="connsiteX3" fmla="*/ 0 w 10451689"/>
              <a:gd name="connsiteY3" fmla="*/ 885825 h 885825"/>
              <a:gd name="connsiteX4" fmla="*/ 0 w 10451689"/>
              <a:gd name="connsiteY4" fmla="*/ 0 h 885825"/>
              <a:gd name="connsiteX0" fmla="*/ 4914900 w 10451689"/>
              <a:gd name="connsiteY0" fmla="*/ 0 h 1571625"/>
              <a:gd name="connsiteX1" fmla="*/ 10451689 w 10451689"/>
              <a:gd name="connsiteY1" fmla="*/ 685800 h 1571625"/>
              <a:gd name="connsiteX2" fmla="*/ 10451689 w 10451689"/>
              <a:gd name="connsiteY2" fmla="*/ 1571625 h 1571625"/>
              <a:gd name="connsiteX3" fmla="*/ 0 w 10451689"/>
              <a:gd name="connsiteY3" fmla="*/ 1571625 h 1571625"/>
              <a:gd name="connsiteX4" fmla="*/ 4914900 w 10451689"/>
              <a:gd name="connsiteY4" fmla="*/ 0 h 1571625"/>
              <a:gd name="connsiteX0" fmla="*/ 4914900 w 10451689"/>
              <a:gd name="connsiteY0" fmla="*/ 24155 h 1595780"/>
              <a:gd name="connsiteX1" fmla="*/ 10451689 w 10451689"/>
              <a:gd name="connsiteY1" fmla="*/ 709955 h 1595780"/>
              <a:gd name="connsiteX2" fmla="*/ 10451689 w 10451689"/>
              <a:gd name="connsiteY2" fmla="*/ 1595780 h 1595780"/>
              <a:gd name="connsiteX3" fmla="*/ 0 w 10451689"/>
              <a:gd name="connsiteY3" fmla="*/ 1595780 h 1595780"/>
              <a:gd name="connsiteX4" fmla="*/ 4914900 w 10451689"/>
              <a:gd name="connsiteY4" fmla="*/ 24155 h 1595780"/>
              <a:gd name="connsiteX0" fmla="*/ 4914900 w 10451689"/>
              <a:gd name="connsiteY0" fmla="*/ 24155 h 1595780"/>
              <a:gd name="connsiteX1" fmla="*/ 10451689 w 10451689"/>
              <a:gd name="connsiteY1" fmla="*/ 709955 h 1595780"/>
              <a:gd name="connsiteX2" fmla="*/ 10451689 w 10451689"/>
              <a:gd name="connsiteY2" fmla="*/ 1595780 h 1595780"/>
              <a:gd name="connsiteX3" fmla="*/ 0 w 10451689"/>
              <a:gd name="connsiteY3" fmla="*/ 1595780 h 1595780"/>
              <a:gd name="connsiteX4" fmla="*/ 4914900 w 10451689"/>
              <a:gd name="connsiteY4" fmla="*/ 24155 h 1595780"/>
              <a:gd name="connsiteX0" fmla="*/ 4914900 w 10451689"/>
              <a:gd name="connsiteY0" fmla="*/ 24155 h 1595780"/>
              <a:gd name="connsiteX1" fmla="*/ 10451689 w 10451689"/>
              <a:gd name="connsiteY1" fmla="*/ 709955 h 1595780"/>
              <a:gd name="connsiteX2" fmla="*/ 10451689 w 10451689"/>
              <a:gd name="connsiteY2" fmla="*/ 1595780 h 1595780"/>
              <a:gd name="connsiteX3" fmla="*/ 0 w 10451689"/>
              <a:gd name="connsiteY3" fmla="*/ 1595780 h 1595780"/>
              <a:gd name="connsiteX4" fmla="*/ 4914900 w 10451689"/>
              <a:gd name="connsiteY4" fmla="*/ 24155 h 1595780"/>
              <a:gd name="connsiteX0" fmla="*/ 4914900 w 10451689"/>
              <a:gd name="connsiteY0" fmla="*/ 44525 h 1616150"/>
              <a:gd name="connsiteX1" fmla="*/ 10451689 w 10451689"/>
              <a:gd name="connsiteY1" fmla="*/ 730325 h 1616150"/>
              <a:gd name="connsiteX2" fmla="*/ 10451689 w 10451689"/>
              <a:gd name="connsiteY2" fmla="*/ 1616150 h 1616150"/>
              <a:gd name="connsiteX3" fmla="*/ 0 w 10451689"/>
              <a:gd name="connsiteY3" fmla="*/ 1616150 h 1616150"/>
              <a:gd name="connsiteX4" fmla="*/ 4914900 w 10451689"/>
              <a:gd name="connsiteY4" fmla="*/ 44525 h 161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51689" h="1616150">
                <a:moveTo>
                  <a:pt x="4914900" y="44525"/>
                </a:moveTo>
                <a:cubicBezTo>
                  <a:pt x="7039896" y="-107875"/>
                  <a:pt x="8631493" y="133425"/>
                  <a:pt x="10451689" y="730325"/>
                </a:cubicBezTo>
                <a:lnTo>
                  <a:pt x="10451689" y="1616150"/>
                </a:lnTo>
                <a:lnTo>
                  <a:pt x="0" y="1616150"/>
                </a:lnTo>
                <a:cubicBezTo>
                  <a:pt x="965200" y="1041475"/>
                  <a:pt x="2565400" y="263600"/>
                  <a:pt x="4914900" y="44525"/>
                </a:cubicBezTo>
                <a:close/>
              </a:path>
            </a:pathLst>
          </a:custGeom>
          <a:solidFill>
            <a:srgbClr val="00A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8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163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10581737" y="6266028"/>
            <a:ext cx="1192042" cy="240572"/>
            <a:chOff x="11166057" y="6809672"/>
            <a:chExt cx="1834157" cy="370161"/>
          </a:xfrm>
        </p:grpSpPr>
        <p:sp>
          <p:nvSpPr>
            <p:cNvPr id="8" name="object 3"/>
            <p:cNvSpPr/>
            <p:nvPr/>
          </p:nvSpPr>
          <p:spPr>
            <a:xfrm>
              <a:off x="11569532" y="6845057"/>
              <a:ext cx="1430682" cy="3347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828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bject 4"/>
            <p:cNvSpPr/>
            <p:nvPr/>
          </p:nvSpPr>
          <p:spPr>
            <a:xfrm>
              <a:off x="11214941" y="6809672"/>
              <a:ext cx="161925" cy="56515"/>
            </a:xfrm>
            <a:custGeom>
              <a:avLst/>
              <a:gdLst/>
              <a:ahLst/>
              <a:cxnLst/>
              <a:rect l="l" t="t" r="r" b="b"/>
              <a:pathLst>
                <a:path w="161925" h="56515">
                  <a:moveTo>
                    <a:pt x="111945" y="0"/>
                  </a:moveTo>
                  <a:lnTo>
                    <a:pt x="63282" y="6761"/>
                  </a:lnTo>
                  <a:lnTo>
                    <a:pt x="19206" y="27722"/>
                  </a:lnTo>
                  <a:lnTo>
                    <a:pt x="0" y="43115"/>
                  </a:lnTo>
                  <a:lnTo>
                    <a:pt x="1955" y="44029"/>
                  </a:lnTo>
                  <a:lnTo>
                    <a:pt x="42046" y="55321"/>
                  </a:lnTo>
                  <a:lnTo>
                    <a:pt x="54357" y="56255"/>
                  </a:lnTo>
                  <a:lnTo>
                    <a:pt x="66604" y="56074"/>
                  </a:lnTo>
                  <a:lnTo>
                    <a:pt x="113455" y="44748"/>
                  </a:lnTo>
                  <a:lnTo>
                    <a:pt x="153321" y="17750"/>
                  </a:lnTo>
                  <a:lnTo>
                    <a:pt x="161640" y="8754"/>
                  </a:lnTo>
                  <a:lnTo>
                    <a:pt x="149314" y="5039"/>
                  </a:lnTo>
                  <a:lnTo>
                    <a:pt x="136885" y="2355"/>
                  </a:lnTo>
                  <a:lnTo>
                    <a:pt x="124411" y="682"/>
                  </a:lnTo>
                  <a:lnTo>
                    <a:pt x="1119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828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bject 5"/>
            <p:cNvSpPr/>
            <p:nvPr/>
          </p:nvSpPr>
          <p:spPr>
            <a:xfrm>
              <a:off x="11400021" y="6829524"/>
              <a:ext cx="82550" cy="142240"/>
            </a:xfrm>
            <a:custGeom>
              <a:avLst/>
              <a:gdLst/>
              <a:ahLst/>
              <a:cxnLst/>
              <a:rect l="l" t="t" r="r" b="b"/>
              <a:pathLst>
                <a:path w="82550" h="142240">
                  <a:moveTo>
                    <a:pt x="1538" y="0"/>
                  </a:moveTo>
                  <a:lnTo>
                    <a:pt x="809" y="5422"/>
                  </a:lnTo>
                  <a:lnTo>
                    <a:pt x="0" y="18245"/>
                  </a:lnTo>
                  <a:lnTo>
                    <a:pt x="452" y="30984"/>
                  </a:lnTo>
                  <a:lnTo>
                    <a:pt x="14225" y="79394"/>
                  </a:lnTo>
                  <a:lnTo>
                    <a:pt x="36195" y="110620"/>
                  </a:lnTo>
                  <a:lnTo>
                    <a:pt x="67159" y="134914"/>
                  </a:lnTo>
                  <a:lnTo>
                    <a:pt x="81307" y="141935"/>
                  </a:lnTo>
                  <a:lnTo>
                    <a:pt x="82352" y="141283"/>
                  </a:lnTo>
                  <a:lnTo>
                    <a:pt x="78737" y="102412"/>
                  </a:lnTo>
                  <a:lnTo>
                    <a:pt x="65558" y="65884"/>
                  </a:lnTo>
                  <a:lnTo>
                    <a:pt x="43515" y="33521"/>
                  </a:lnTo>
                  <a:lnTo>
                    <a:pt x="13303" y="7146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828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bject 6"/>
            <p:cNvSpPr/>
            <p:nvPr/>
          </p:nvSpPr>
          <p:spPr>
            <a:xfrm>
              <a:off x="11269147" y="6991557"/>
              <a:ext cx="210820" cy="129539"/>
            </a:xfrm>
            <a:custGeom>
              <a:avLst/>
              <a:gdLst/>
              <a:ahLst/>
              <a:cxnLst/>
              <a:rect l="l" t="t" r="r" b="b"/>
              <a:pathLst>
                <a:path w="210820" h="129540">
                  <a:moveTo>
                    <a:pt x="188001" y="0"/>
                  </a:moveTo>
                  <a:lnTo>
                    <a:pt x="149416" y="3123"/>
                  </a:lnTo>
                  <a:lnTo>
                    <a:pt x="112383" y="13312"/>
                  </a:lnTo>
                  <a:lnTo>
                    <a:pt x="77952" y="30178"/>
                  </a:lnTo>
                  <a:lnTo>
                    <a:pt x="47171" y="53332"/>
                  </a:lnTo>
                  <a:lnTo>
                    <a:pt x="21087" y="82387"/>
                  </a:lnTo>
                  <a:lnTo>
                    <a:pt x="749" y="116956"/>
                  </a:lnTo>
                  <a:lnTo>
                    <a:pt x="0" y="118632"/>
                  </a:lnTo>
                  <a:lnTo>
                    <a:pt x="1333" y="120088"/>
                  </a:lnTo>
                  <a:lnTo>
                    <a:pt x="13549" y="123907"/>
                  </a:lnTo>
                  <a:lnTo>
                    <a:pt x="25872" y="126707"/>
                  </a:lnTo>
                  <a:lnTo>
                    <a:pt x="38249" y="128508"/>
                  </a:lnTo>
                  <a:lnTo>
                    <a:pt x="50626" y="129330"/>
                  </a:lnTo>
                  <a:lnTo>
                    <a:pt x="62947" y="129194"/>
                  </a:lnTo>
                  <a:lnTo>
                    <a:pt x="110592" y="119465"/>
                  </a:lnTo>
                  <a:lnTo>
                    <a:pt x="153009" y="96007"/>
                  </a:lnTo>
                  <a:lnTo>
                    <a:pt x="186720" y="60109"/>
                  </a:lnTo>
                  <a:lnTo>
                    <a:pt x="204142" y="25934"/>
                  </a:lnTo>
                  <a:lnTo>
                    <a:pt x="210769" y="1589"/>
                  </a:lnTo>
                  <a:lnTo>
                    <a:pt x="201027" y="595"/>
                  </a:lnTo>
                  <a:lnTo>
                    <a:pt x="188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828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bject 7"/>
            <p:cNvSpPr/>
            <p:nvPr/>
          </p:nvSpPr>
          <p:spPr>
            <a:xfrm>
              <a:off x="11166057" y="6870934"/>
              <a:ext cx="102870" cy="231775"/>
            </a:xfrm>
            <a:custGeom>
              <a:avLst/>
              <a:gdLst/>
              <a:ahLst/>
              <a:cxnLst/>
              <a:rect l="l" t="t" r="r" b="b"/>
              <a:pathLst>
                <a:path w="102870" h="231775">
                  <a:moveTo>
                    <a:pt x="32397" y="0"/>
                  </a:moveTo>
                  <a:lnTo>
                    <a:pt x="12820" y="33048"/>
                  </a:lnTo>
                  <a:lnTo>
                    <a:pt x="566" y="81078"/>
                  </a:lnTo>
                  <a:lnTo>
                    <a:pt x="0" y="93179"/>
                  </a:lnTo>
                  <a:lnTo>
                    <a:pt x="391" y="105211"/>
                  </a:lnTo>
                  <a:lnTo>
                    <a:pt x="11136" y="151612"/>
                  </a:lnTo>
                  <a:lnTo>
                    <a:pt x="35600" y="192721"/>
                  </a:lnTo>
                  <a:lnTo>
                    <a:pt x="72495" y="225173"/>
                  </a:lnTo>
                  <a:lnTo>
                    <a:pt x="83510" y="231540"/>
                  </a:lnTo>
                  <a:lnTo>
                    <a:pt x="84310" y="229889"/>
                  </a:lnTo>
                  <a:lnTo>
                    <a:pt x="97555" y="191699"/>
                  </a:lnTo>
                  <a:lnTo>
                    <a:pt x="102577" y="153788"/>
                  </a:lnTo>
                  <a:lnTo>
                    <a:pt x="102512" y="140377"/>
                  </a:lnTo>
                  <a:lnTo>
                    <a:pt x="94451" y="92180"/>
                  </a:lnTo>
                  <a:lnTo>
                    <a:pt x="74018" y="47086"/>
                  </a:lnTo>
                  <a:lnTo>
                    <a:pt x="42083" y="8386"/>
                  </a:lnTo>
                  <a:lnTo>
                    <a:pt x="323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828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3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object 8">
            <a:extLst>
              <a:ext uri="{FF2B5EF4-FFF2-40B4-BE49-F238E27FC236}">
                <a16:creationId xmlns:a16="http://schemas.microsoft.com/office/drawing/2014/main" id="{9C695013-42F3-46C1-A45C-3928F62F6FEE}"/>
              </a:ext>
            </a:extLst>
          </p:cNvPr>
          <p:cNvSpPr txBox="1">
            <a:spLocks/>
          </p:cNvSpPr>
          <p:nvPr/>
        </p:nvSpPr>
        <p:spPr>
          <a:xfrm>
            <a:off x="550357" y="403337"/>
            <a:ext cx="3028608" cy="1003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501" marR="0" lvl="0" indent="0" algn="l" defTabSz="91289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UY" sz="3261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" panose="00000500000000000000" pitchFamily="2" charset="0"/>
                <a:ea typeface="+mj-ea"/>
                <a:cs typeface="+mj-cs"/>
              </a:rPr>
              <a:t>Contenido de la sesión:</a:t>
            </a:r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046E2148-2B4E-6E15-6572-AF81B58826D4}"/>
              </a:ext>
            </a:extLst>
          </p:cNvPr>
          <p:cNvSpPr txBox="1"/>
          <p:nvPr/>
        </p:nvSpPr>
        <p:spPr>
          <a:xfrm>
            <a:off x="5424847" y="1128658"/>
            <a:ext cx="8297353" cy="2400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lvl="0" indent="0" algn="l" defTabSz="828172" rtl="0" eaLnBrk="1" fontAlgn="auto" latinLnBrk="0" hangingPunct="1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000" b="1">
                <a:solidFill>
                  <a:schemeClr val="bg1"/>
                </a:solidFill>
                <a:latin typeface="Barlow"/>
                <a:cs typeface="Barlow"/>
              </a:rPr>
              <a:t>1</a:t>
            </a:r>
            <a:r>
              <a:rPr kumimoji="0" lang="es-E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. Informe S&amp;OP Planta Parque de las Ciencias</a:t>
            </a:r>
            <a:endParaRPr lang="es-UY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arlow"/>
              <a:cs typeface="Barlow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A0E0A519-F0E0-BC3B-726E-00C61ACE621C}"/>
              </a:ext>
            </a:extLst>
          </p:cNvPr>
          <p:cNvSpPr txBox="1"/>
          <p:nvPr/>
        </p:nvSpPr>
        <p:spPr>
          <a:xfrm>
            <a:off x="5424847" y="1669703"/>
            <a:ext cx="8297353" cy="2400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lvl="0" indent="0" algn="l" defTabSz="828172" rtl="0" eaLnBrk="1" fontAlgn="auto" latinLnBrk="0" hangingPunct="1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b="1">
                <a:solidFill>
                  <a:srgbClr val="00A88E"/>
                </a:solidFill>
                <a:latin typeface="Barlow"/>
                <a:cs typeface="Barlow"/>
              </a:rPr>
              <a:t>2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.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Informe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S&amp;OP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Planta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Rowe</a:t>
            </a:r>
            <a:endParaRPr lang="es-UY" sz="2000" b="1" i="0" u="none" strike="noStrike" kern="1200" cap="none" spc="0" normalizeH="0" baseline="0" noProof="0" err="1">
              <a:ln>
                <a:noFill/>
              </a:ln>
              <a:solidFill>
                <a:srgbClr val="00A88E"/>
              </a:solidFill>
              <a:effectLst/>
              <a:uLnTx/>
              <a:uFillTx/>
              <a:latin typeface="Barlow"/>
              <a:cs typeface="Barlow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1E1C3707-8114-9602-A592-A3CBAF0CB655}"/>
              </a:ext>
            </a:extLst>
          </p:cNvPr>
          <p:cNvSpPr txBox="1"/>
          <p:nvPr/>
        </p:nvSpPr>
        <p:spPr>
          <a:xfrm>
            <a:off x="5424847" y="2210748"/>
            <a:ext cx="6782881" cy="2400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lvl="0" indent="0" algn="l" defTabSz="828172" rtl="0" eaLnBrk="1" fontAlgn="auto" latinLnBrk="0" hangingPunct="1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b="1">
                <a:solidFill>
                  <a:srgbClr val="00A88E"/>
                </a:solidFill>
                <a:latin typeface="Barlow"/>
                <a:cs typeface="Barlow"/>
              </a:rPr>
              <a:t>3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.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Informe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S&amp;OP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Planta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Colombia</a:t>
            </a:r>
            <a:endParaRPr lang="es-UY" sz="2000" b="1" i="0" u="none" strike="noStrike" kern="1200" cap="none" spc="0" normalizeH="0" baseline="0" noProof="0">
              <a:ln>
                <a:noFill/>
              </a:ln>
              <a:solidFill>
                <a:srgbClr val="00A88E"/>
              </a:solidFill>
              <a:effectLst/>
              <a:uLnTx/>
              <a:uFillTx/>
              <a:latin typeface="Barlow"/>
              <a:cs typeface="Barlow"/>
            </a:endParaRPr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D684D937-3F95-FF96-BF9B-A4ED8985B19F}"/>
              </a:ext>
            </a:extLst>
          </p:cNvPr>
          <p:cNvSpPr txBox="1"/>
          <p:nvPr/>
        </p:nvSpPr>
        <p:spPr>
          <a:xfrm>
            <a:off x="5424847" y="2751793"/>
            <a:ext cx="6782881" cy="2400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lvl="0" indent="0" algn="l" defTabSz="828172" rtl="0" eaLnBrk="1" fontAlgn="auto" latinLnBrk="0" hangingPunct="1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b="1">
                <a:solidFill>
                  <a:srgbClr val="00A88E"/>
                </a:solidFill>
                <a:latin typeface="Barlow"/>
                <a:cs typeface="Barlow"/>
              </a:rPr>
              <a:t>4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.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Informe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S&amp;OP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Planta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Poen</a:t>
            </a:r>
            <a:endParaRPr lang="es-UY" sz="2000" b="1" i="0" u="none" strike="noStrike" kern="1200" cap="none" spc="0" normalizeH="0" baseline="0" noProof="0">
              <a:ln>
                <a:noFill/>
              </a:ln>
              <a:solidFill>
                <a:srgbClr val="00A88E"/>
              </a:solidFill>
              <a:effectLst/>
              <a:uLnTx/>
              <a:uFillTx/>
              <a:latin typeface="Barlow"/>
              <a:cs typeface="Barlow"/>
            </a:endParaRPr>
          </a:p>
        </p:txBody>
      </p:sp>
      <p:sp>
        <p:nvSpPr>
          <p:cNvPr id="24" name="object 11">
            <a:extLst>
              <a:ext uri="{FF2B5EF4-FFF2-40B4-BE49-F238E27FC236}">
                <a16:creationId xmlns:a16="http://schemas.microsoft.com/office/drawing/2014/main" id="{51AF6A90-1716-8B52-E2F3-2A01D4CC14EE}"/>
              </a:ext>
            </a:extLst>
          </p:cNvPr>
          <p:cNvSpPr txBox="1"/>
          <p:nvPr/>
        </p:nvSpPr>
        <p:spPr>
          <a:xfrm>
            <a:off x="5424847" y="3292838"/>
            <a:ext cx="6782881" cy="2400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lvl="0" indent="0" algn="l" defTabSz="828172" rtl="0" eaLnBrk="1" fontAlgn="auto" latinLnBrk="0" hangingPunct="1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b="1">
                <a:solidFill>
                  <a:srgbClr val="00A88E"/>
                </a:solidFill>
                <a:latin typeface="Barlow"/>
                <a:cs typeface="Barlow"/>
              </a:rPr>
              <a:t>5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.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Informe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S&amp;OP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Planta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Acromax</a:t>
            </a:r>
            <a:endParaRPr lang="nl-NL" sz="2000" b="1" i="0" u="none" strike="noStrike" kern="1200" cap="none" spc="0" normalizeH="0" baseline="0" noProof="0">
              <a:ln>
                <a:noFill/>
              </a:ln>
              <a:solidFill>
                <a:srgbClr val="00A88E"/>
              </a:solidFill>
              <a:effectLst/>
              <a:uLnTx/>
              <a:uFillTx/>
              <a:latin typeface="Barlow"/>
              <a:cs typeface="Barlow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41F95121-17F8-7270-138E-8F5A727CEA56}"/>
              </a:ext>
            </a:extLst>
          </p:cNvPr>
          <p:cNvSpPr txBox="1"/>
          <p:nvPr/>
        </p:nvSpPr>
        <p:spPr>
          <a:xfrm>
            <a:off x="5424847" y="4915976"/>
            <a:ext cx="6782881" cy="2443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defTabSz="828172">
              <a:lnSpc>
                <a:spcPct val="78100"/>
              </a:lnSpc>
              <a:defRPr/>
            </a:pPr>
            <a:r>
              <a:rPr lang="nl-NL" sz="2000" b="1" dirty="0">
                <a:solidFill>
                  <a:srgbClr val="00A88E"/>
                </a:solidFill>
                <a:latin typeface="Barlow"/>
                <a:cs typeface="Barlow"/>
              </a:rPr>
              <a:t>8</a:t>
            </a:r>
            <a:r>
              <a:rPr lang="nl-NL" sz="2000" b="1" dirty="0">
                <a:solidFill>
                  <a:srgbClr val="00A88E"/>
                </a:solidFill>
                <a:latin typeface="Barlow"/>
              </a:rPr>
              <a:t>. Informe S&amp;OP Plata Iclos</a:t>
            </a:r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6F1460C6-73B0-19C9-D5BD-AF865C419BAD}"/>
              </a:ext>
            </a:extLst>
          </p:cNvPr>
          <p:cNvSpPr txBox="1"/>
          <p:nvPr/>
        </p:nvSpPr>
        <p:spPr>
          <a:xfrm>
            <a:off x="5424847" y="4374928"/>
            <a:ext cx="6782881" cy="2443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lvl="0" indent="0" algn="l" defTabSz="828172" rtl="0" eaLnBrk="1" fontAlgn="auto" latinLnBrk="0" hangingPunct="1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b="1" dirty="0">
                <a:solidFill>
                  <a:srgbClr val="00A88E"/>
                </a:solidFill>
                <a:latin typeface="Barlow"/>
                <a:cs typeface="Barlow"/>
              </a:rPr>
              <a:t>7</a:t>
            </a:r>
            <a:r>
              <a:rPr kumimoji="0" lang="nl-NL" sz="2000" b="1" i="0" u="none" strike="noStrike" kern="1200" cap="none" spc="0" normalizeH="0" baseline="0" noProof="0" dirty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. Informe S&amp;OP Planta Uruguay Megalabs</a:t>
            </a:r>
            <a:endParaRPr lang="es-ES" dirty="0">
              <a:ea typeface="+mn-ea"/>
            </a:endParaRPr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FA499C1F-E728-18D0-4AE5-2AC73A2F217D}"/>
              </a:ext>
            </a:extLst>
          </p:cNvPr>
          <p:cNvSpPr txBox="1"/>
          <p:nvPr/>
        </p:nvSpPr>
        <p:spPr>
          <a:xfrm>
            <a:off x="5424847" y="3833883"/>
            <a:ext cx="6782881" cy="2443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lvl="0" indent="0" algn="l" defTabSz="828172" rtl="0" eaLnBrk="1" fontAlgn="auto" latinLnBrk="0" hangingPunct="1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000" b="1">
                <a:solidFill>
                  <a:srgbClr val="00A88E"/>
                </a:solidFill>
                <a:latin typeface="Barlow"/>
                <a:cs typeface="Barlow"/>
              </a:rPr>
              <a:t>6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.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Informe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S&amp;OP </a:t>
            </a:r>
            <a:r>
              <a:rPr kumimoji="0" lang="nl-NL" sz="2000" b="1" i="0" u="none" strike="noStrike" kern="1200" cap="none" spc="0" normalizeH="0" baseline="0" noProof="0" err="1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Planta</a:t>
            </a: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A88E"/>
                </a:solidFill>
                <a:effectLst/>
                <a:uLnTx/>
                <a:uFillTx/>
                <a:latin typeface="Barlow"/>
                <a:ea typeface="+mn-ea"/>
                <a:cs typeface="Barlow"/>
              </a:rPr>
              <a:t> Garden House</a:t>
            </a:r>
            <a:endParaRPr lang="es-ES">
              <a:ea typeface="+mn-ea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B91A6407-0165-4E6D-0BEE-44919425FFBF}"/>
              </a:ext>
            </a:extLst>
          </p:cNvPr>
          <p:cNvSpPr txBox="1"/>
          <p:nvPr/>
        </p:nvSpPr>
        <p:spPr>
          <a:xfrm>
            <a:off x="5424847" y="5457024"/>
            <a:ext cx="6782881" cy="2443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1430" marR="731520" defTabSz="828172">
              <a:lnSpc>
                <a:spcPct val="78100"/>
              </a:lnSpc>
              <a:defRPr/>
            </a:pPr>
            <a:r>
              <a:rPr lang="nl-NL" sz="2000" b="1" dirty="0">
                <a:solidFill>
                  <a:srgbClr val="00A88E"/>
                </a:solidFill>
                <a:latin typeface="Barlow"/>
              </a:rPr>
              <a:t>9. Back Up</a:t>
            </a:r>
          </a:p>
        </p:txBody>
      </p:sp>
    </p:spTree>
    <p:extLst>
      <p:ext uri="{BB962C8B-B14F-4D97-AF65-F5344CB8AC3E}">
        <p14:creationId xmlns:p14="http://schemas.microsoft.com/office/powerpoint/2010/main" val="42346671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BBCAA953-6F6F-4878-85A4-76DD14D47CA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5" imgW="360" imgH="360" progId="TCLayout.ActiveDocument.1">
                  <p:embed/>
                </p:oleObj>
              </mc:Choice>
              <mc:Fallback>
                <p:oleObj name="Diapositiva de think-cell" r:id="rId15" imgW="360" imgH="360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BBCAA953-6F6F-4878-85A4-76DD14D47C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Table 3" hidden="1">
            <a:extLst>
              <a:ext uri="{FF2B5EF4-FFF2-40B4-BE49-F238E27FC236}">
                <a16:creationId xmlns:a16="http://schemas.microsoft.com/office/drawing/2014/main" id="{2CCA14C4-810C-46FA-834E-C492D8ACB3BF}"/>
              </a:ext>
            </a:extLst>
          </p:cNvPr>
          <p:cNvGraphicFramePr>
            <a:graphicFrameLocks noGrp="1"/>
          </p:cNvGraphicFramePr>
          <p:nvPr/>
        </p:nvGraphicFramePr>
        <p:xfrm>
          <a:off x="554736" y="2820988"/>
          <a:ext cx="11083922" cy="2505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333">
                  <a:extLst>
                    <a:ext uri="{9D8B030D-6E8A-4147-A177-3AD203B41FA5}">
                      <a16:colId xmlns:a16="http://schemas.microsoft.com/office/drawing/2014/main" val="2463739933"/>
                    </a:ext>
                  </a:extLst>
                </a:gridCol>
                <a:gridCol w="3158222">
                  <a:extLst>
                    <a:ext uri="{9D8B030D-6E8A-4147-A177-3AD203B41FA5}">
                      <a16:colId xmlns:a16="http://schemas.microsoft.com/office/drawing/2014/main" val="3377899701"/>
                    </a:ext>
                  </a:extLst>
                </a:gridCol>
                <a:gridCol w="1650994">
                  <a:extLst>
                    <a:ext uri="{9D8B030D-6E8A-4147-A177-3AD203B41FA5}">
                      <a16:colId xmlns:a16="http://schemas.microsoft.com/office/drawing/2014/main" val="302448798"/>
                    </a:ext>
                  </a:extLst>
                </a:gridCol>
                <a:gridCol w="5050373">
                  <a:extLst>
                    <a:ext uri="{9D8B030D-6E8A-4147-A177-3AD203B41FA5}">
                      <a16:colId xmlns:a16="http://schemas.microsoft.com/office/drawing/2014/main" val="319841027"/>
                    </a:ext>
                  </a:extLst>
                </a:gridCol>
              </a:tblGrid>
              <a:tr h="255155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Start</a:t>
                      </a:r>
                      <a:r>
                        <a:rPr lang="es-ES" sz="1000" u="none" strike="noStrike">
                          <a:effectLst/>
                        </a:rPr>
                        <a:t> Time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>
                          <a:effectLst/>
                        </a:rPr>
                        <a:t>Agenda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Responsible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Indicators</a:t>
                      </a:r>
                      <a:r>
                        <a:rPr lang="es-ES" sz="1000" u="none" strike="noStrike">
                          <a:effectLst/>
                        </a:rPr>
                        <a:t>/Content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extLst>
                  <a:ext uri="{0D108BD9-81ED-4DB2-BD59-A6C34878D82A}">
                    <a16:rowId xmlns:a16="http://schemas.microsoft.com/office/drawing/2014/main" val="3812766889"/>
                  </a:ext>
                </a:extLst>
              </a:tr>
              <a:tr h="2551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0:05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Meeting rules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Planning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>
                          <a:effectLst/>
                        </a:rPr>
                        <a:t> 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extLst>
                  <a:ext uri="{0D108BD9-81ED-4DB2-BD59-A6C34878D82A}">
                    <a16:rowId xmlns:a16="http://schemas.microsoft.com/office/drawing/2014/main" val="1221836866"/>
                  </a:ext>
                </a:extLst>
              </a:tr>
              <a:tr h="2551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0:15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Review </a:t>
                      </a:r>
                      <a:r>
                        <a:rPr lang="es-ES" sz="1000" u="none" strike="noStrike" err="1">
                          <a:effectLst/>
                        </a:rPr>
                        <a:t>of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Previous</a:t>
                      </a:r>
                      <a:r>
                        <a:rPr lang="es-ES" sz="1000" u="none" strike="noStrike">
                          <a:effectLst/>
                        </a:rPr>
                        <a:t> Minutes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Planning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>
                          <a:effectLst/>
                        </a:rPr>
                        <a:t> 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extLst>
                  <a:ext uri="{0D108BD9-81ED-4DB2-BD59-A6C34878D82A}">
                    <a16:rowId xmlns:a16="http://schemas.microsoft.com/office/drawing/2014/main" val="1757754690"/>
                  </a:ext>
                </a:extLst>
              </a:tr>
              <a:tr h="2551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0:30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 err="1">
                          <a:effectLst/>
                        </a:rPr>
                        <a:t>Quarterly</a:t>
                      </a:r>
                      <a:r>
                        <a:rPr lang="es-ES" sz="1000" u="none" strike="noStrike">
                          <a:effectLst/>
                        </a:rPr>
                        <a:t> review 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Planning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Task</a:t>
                      </a:r>
                      <a:r>
                        <a:rPr lang="es-ES" sz="1000" u="none" strike="noStrike">
                          <a:effectLst/>
                        </a:rPr>
                        <a:t>: Review </a:t>
                      </a:r>
                      <a:r>
                        <a:rPr lang="es-ES" sz="1000" u="none" strike="noStrike" err="1">
                          <a:effectLst/>
                        </a:rPr>
                        <a:t>the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indicators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to</a:t>
                      </a:r>
                      <a:r>
                        <a:rPr lang="es-ES" sz="1000" u="none" strike="noStrike">
                          <a:effectLst/>
                        </a:rPr>
                        <a:t> be </a:t>
                      </a:r>
                      <a:r>
                        <a:rPr lang="es-ES" sz="1000" u="none" strike="noStrike" err="1">
                          <a:effectLst/>
                        </a:rPr>
                        <a:t>presented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extLst>
                  <a:ext uri="{0D108BD9-81ED-4DB2-BD59-A6C34878D82A}">
                    <a16:rowId xmlns:a16="http://schemas.microsoft.com/office/drawing/2014/main" val="3529603713"/>
                  </a:ext>
                </a:extLst>
              </a:tr>
              <a:tr h="974461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0:50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Key </a:t>
                      </a:r>
                      <a:r>
                        <a:rPr lang="es-ES" sz="1000" u="none" strike="noStrike" err="1">
                          <a:effectLst/>
                        </a:rPr>
                        <a:t>issues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to</a:t>
                      </a:r>
                      <a:r>
                        <a:rPr lang="es-ES" sz="1000" u="none" strike="noStrike">
                          <a:effectLst/>
                        </a:rPr>
                        <a:t> be resolved. </a:t>
                      </a:r>
                      <a:r>
                        <a:rPr lang="es-ES" sz="1000" u="none" strike="noStrike" err="1">
                          <a:effectLst/>
                        </a:rPr>
                        <a:t>Main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events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of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the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month</a:t>
                      </a:r>
                      <a:r>
                        <a:rPr lang="es-ES" sz="1000" u="none" strike="noStrike">
                          <a:effectLst/>
                        </a:rPr>
                        <a:t>: </a:t>
                      </a:r>
                      <a:r>
                        <a:rPr lang="es-ES" sz="1000" u="none" strike="noStrike" err="1">
                          <a:effectLst/>
                        </a:rPr>
                        <a:t>changes</a:t>
                      </a:r>
                      <a:r>
                        <a:rPr lang="es-ES" sz="1000" u="none" strike="noStrike">
                          <a:effectLst/>
                        </a:rPr>
                        <a:t> in </a:t>
                      </a:r>
                      <a:r>
                        <a:rPr lang="es-ES" sz="1000" u="none" strike="noStrike" err="1">
                          <a:effectLst/>
                        </a:rPr>
                        <a:t>supply</a:t>
                      </a:r>
                      <a:r>
                        <a:rPr lang="es-ES" sz="1000" u="none" strike="noStrike">
                          <a:effectLst/>
                        </a:rPr>
                        <a:t> and </a:t>
                      </a:r>
                      <a:r>
                        <a:rPr lang="es-ES" sz="1000" u="none" strike="noStrike" err="1">
                          <a:effectLst/>
                        </a:rPr>
                        <a:t>demand</a:t>
                      </a:r>
                      <a:r>
                        <a:rPr lang="es-ES" sz="1000" u="none" strike="noStrike">
                          <a:effectLst/>
                        </a:rPr>
                        <a:t>. Review </a:t>
                      </a:r>
                      <a:r>
                        <a:rPr lang="es-ES" sz="1000" u="none" strike="noStrike" err="1">
                          <a:effectLst/>
                        </a:rPr>
                        <a:t>of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escalated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actions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Planning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>
                          <a:effectLst/>
                        </a:rPr>
                        <a:t> 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extLst>
                  <a:ext uri="{0D108BD9-81ED-4DB2-BD59-A6C34878D82A}">
                    <a16:rowId xmlns:a16="http://schemas.microsoft.com/office/drawing/2014/main" val="1701500438"/>
                  </a:ext>
                </a:extLst>
              </a:tr>
              <a:tr h="2551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1:50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Consensual </a:t>
                      </a:r>
                      <a:r>
                        <a:rPr lang="es-ES" sz="1000" u="none" strike="noStrike" err="1">
                          <a:effectLst/>
                        </a:rPr>
                        <a:t>projection</a:t>
                      </a:r>
                      <a:r>
                        <a:rPr lang="es-ES" sz="1000" u="none" strike="noStrike">
                          <a:effectLst/>
                        </a:rPr>
                        <a:t> review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 err="1">
                          <a:effectLst/>
                        </a:rPr>
                        <a:t>Planning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>
                          <a:effectLst/>
                        </a:rPr>
                        <a:t>Representative </a:t>
                      </a:r>
                      <a:r>
                        <a:rPr lang="es-ES" sz="1000" u="none" strike="noStrike" err="1">
                          <a:effectLst/>
                        </a:rPr>
                        <a:t>novelties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observed</a:t>
                      </a:r>
                      <a:r>
                        <a:rPr lang="es-ES" sz="1000" u="none" strike="noStrike">
                          <a:effectLst/>
                        </a:rPr>
                        <a:t> in </a:t>
                      </a:r>
                      <a:r>
                        <a:rPr lang="es-ES" sz="1000" u="none" strike="noStrike" err="1">
                          <a:effectLst/>
                        </a:rPr>
                        <a:t>consensus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reuion</a:t>
                      </a:r>
                      <a:r>
                        <a:rPr lang="es-ES" sz="1000" u="none" strike="noStrike">
                          <a:effectLst/>
                        </a:rPr>
                        <a:t>.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extLst>
                  <a:ext uri="{0D108BD9-81ED-4DB2-BD59-A6C34878D82A}">
                    <a16:rowId xmlns:a16="http://schemas.microsoft.com/office/drawing/2014/main" val="2719936741"/>
                  </a:ext>
                </a:extLst>
              </a:tr>
              <a:tr h="255155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>
                          <a:effectLst/>
                        </a:rPr>
                        <a:t>2:00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000" u="none" strike="noStrike" err="1">
                          <a:effectLst/>
                        </a:rPr>
                        <a:t>Revision</a:t>
                      </a:r>
                      <a:r>
                        <a:rPr lang="es-ES" sz="1000" u="none" strike="noStrike">
                          <a:effectLst/>
                        </a:rPr>
                        <a:t> </a:t>
                      </a:r>
                      <a:r>
                        <a:rPr lang="es-ES" sz="1000" u="none" strike="noStrike" err="1">
                          <a:effectLst/>
                        </a:rPr>
                        <a:t>of</a:t>
                      </a:r>
                      <a:r>
                        <a:rPr lang="es-ES" sz="1000" u="none" strike="noStrike">
                          <a:effectLst/>
                        </a:rPr>
                        <a:t> stock </a:t>
                      </a:r>
                      <a:r>
                        <a:rPr lang="es-ES" sz="1000" u="none" strike="noStrike" err="1">
                          <a:effectLst/>
                        </a:rPr>
                        <a:t>items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>
                          <a:effectLst/>
                        </a:rPr>
                        <a:t> 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u="none" strike="noStrike">
                          <a:effectLst/>
                        </a:rPr>
                        <a:t> 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48" marR="6348" marT="6348" marB="0"/>
                </a:tc>
                <a:extLst>
                  <a:ext uri="{0D108BD9-81ED-4DB2-BD59-A6C34878D82A}">
                    <a16:rowId xmlns:a16="http://schemas.microsoft.com/office/drawing/2014/main" val="152463765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93D65E1-3C82-4DDF-8D45-B2DF63AFC466}"/>
              </a:ext>
            </a:extLst>
          </p:cNvPr>
          <p:cNvSpPr txBox="1">
            <a:spLocks/>
          </p:cNvSpPr>
          <p:nvPr/>
        </p:nvSpPr>
        <p:spPr>
          <a:xfrm>
            <a:off x="5635690" y="741175"/>
            <a:ext cx="6299135" cy="11387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007C6B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Objetivos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Revisar el rendimiento del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suministro frente al objetivo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Comprender las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limitaciones de los proveedores 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para responder a la demanda prevista y los casos en los que no se puede satisfacer la demanda (en volumen o en tiempo)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Compartir las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acciones a medio/largo plazo para ajustar la capacidad y asegurar el abastecimiento de materiales 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para responder a la demanda futura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93B2AB-52DC-4609-9E5B-9C3602696A4E}"/>
              </a:ext>
            </a:extLst>
          </p:cNvPr>
          <p:cNvSpPr txBox="1">
            <a:spLocks/>
          </p:cNvSpPr>
          <p:nvPr/>
        </p:nvSpPr>
        <p:spPr>
          <a:xfrm>
            <a:off x="5676732" y="2144636"/>
            <a:ext cx="6299135" cy="140038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007C6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Participantes</a:t>
            </a:r>
          </a:p>
          <a:p>
            <a:pPr marL="172720" marR="0" lvl="1" indent="-1695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Ejecutivo de cuenta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Supply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–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Moderador de la sesión</a:t>
            </a:r>
          </a:p>
          <a:p>
            <a:pPr marL="172720" marR="0" lvl="1" indent="-1695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Líder global de S&amp;OP</a:t>
            </a:r>
          </a:p>
          <a:p>
            <a:pPr marL="172720" marR="0" lvl="1" indent="-1695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Planta: Planificador</a:t>
            </a:r>
            <a:r>
              <a:rPr kumimoji="0" lang="es-ES" sz="1200" b="0" i="0" u="none" strike="noStrike" kern="120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</a:p>
          <a:p>
            <a:pPr marL="172720" marR="0" lvl="1" indent="-1695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Representante de manufactura (</a:t>
            </a:r>
            <a:r>
              <a:rPr kumimoji="0" lang="es-ES" sz="1200" b="0" i="1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OBLIGATORIO en URU-MPH, DOM-ROW, URU-ROE</a:t>
            </a:r>
            <a:r>
              <a:rPr kumimoji="0" lang="es-ES" sz="1200" b="0" i="1" u="none" strike="noStrike" kern="120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</a:p>
          <a:p>
            <a:pPr marL="172720" marR="0" lvl="1" indent="-1695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Compras Local 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2720" marR="0" lvl="1" indent="-16954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Compras Corporativo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659A5B-1405-4D46-A911-1D240C4F8D31}"/>
              </a:ext>
            </a:extLst>
          </p:cNvPr>
          <p:cNvSpPr txBox="1">
            <a:spLocks/>
          </p:cNvSpPr>
          <p:nvPr/>
        </p:nvSpPr>
        <p:spPr>
          <a:xfrm>
            <a:off x="5669938" y="3693861"/>
            <a:ext cx="6176133" cy="8463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400" b="1" i="0" u="none" strike="noStrike" kern="1200" cap="none" spc="0" normalizeH="0" baseline="0" noProof="0" err="1">
                <a:ln>
                  <a:noFill/>
                </a:ln>
                <a:solidFill>
                  <a:srgbClr val="007C6B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KPIs</a:t>
            </a:r>
            <a:endParaRPr kumimoji="0" lang="es-ES" sz="1400" b="1" i="0" u="none" strike="noStrike" kern="1200" cap="none" spc="0" normalizeH="0" baseline="0" noProof="0">
              <a:ln>
                <a:noFill/>
              </a:ln>
              <a:solidFill>
                <a:srgbClr val="007C6B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OTIF (n-1),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Backorder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(n-1), Adherencia a la producción (n-1), Forward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order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(n-1), Adherencia a la capacidad de servicios analíticos (n-1), Adherencia a la capacidad de producción (n-1)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20426B-6959-4F04-B6B3-9DBC34F317CE}"/>
              </a:ext>
            </a:extLst>
          </p:cNvPr>
          <p:cNvSpPr txBox="1">
            <a:spLocks/>
          </p:cNvSpPr>
          <p:nvPr/>
        </p:nvSpPr>
        <p:spPr>
          <a:xfrm>
            <a:off x="5699925" y="4801549"/>
            <a:ext cx="6299135" cy="8463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007C6B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Outputs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Acciones y decisiones en:</a:t>
            </a:r>
          </a:p>
          <a:p>
            <a:pPr marL="404813" marR="0" lvl="2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‒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Ajustes de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capacidad</a:t>
            </a:r>
          </a:p>
          <a:p>
            <a:pPr marL="404813" marR="0" lvl="2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045"/>
              </a:buClr>
              <a:buSzPct val="110000"/>
              <a:buFont typeface="Arial" panose="020B0604020202020204" pitchFamily="34" charset="0"/>
              <a:buChar char="‒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Ajustes de la demanda (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priorización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) debido a las limitaciones de capacidad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3B163F7-E3EF-48F9-871A-3DC8807F3502}"/>
              </a:ext>
            </a:extLst>
          </p:cNvPr>
          <p:cNvCxnSpPr>
            <a:cxnSpLocks/>
          </p:cNvCxnSpPr>
          <p:nvPr/>
        </p:nvCxnSpPr>
        <p:spPr>
          <a:xfrm>
            <a:off x="5635690" y="2071817"/>
            <a:ext cx="6299135" cy="0"/>
          </a:xfrm>
          <a:prstGeom prst="line">
            <a:avLst/>
          </a:prstGeom>
          <a:ln w="3175" cap="flat">
            <a:solidFill>
              <a:srgbClr val="7F7F7F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92C6CC9-A03A-4813-AA98-B35F68DA1F9A}"/>
              </a:ext>
            </a:extLst>
          </p:cNvPr>
          <p:cNvCxnSpPr>
            <a:cxnSpLocks/>
          </p:cNvCxnSpPr>
          <p:nvPr/>
        </p:nvCxnSpPr>
        <p:spPr>
          <a:xfrm>
            <a:off x="5635689" y="3545019"/>
            <a:ext cx="6299135" cy="0"/>
          </a:xfrm>
          <a:prstGeom prst="line">
            <a:avLst/>
          </a:prstGeom>
          <a:ln w="3175" cap="flat">
            <a:solidFill>
              <a:srgbClr val="7F7F7F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B02367F-51DD-48B5-B91B-DDBEB7963117}"/>
              </a:ext>
            </a:extLst>
          </p:cNvPr>
          <p:cNvCxnSpPr>
            <a:cxnSpLocks/>
          </p:cNvCxnSpPr>
          <p:nvPr/>
        </p:nvCxnSpPr>
        <p:spPr>
          <a:xfrm>
            <a:off x="5635689" y="4652708"/>
            <a:ext cx="6299135" cy="0"/>
          </a:xfrm>
          <a:prstGeom prst="line">
            <a:avLst/>
          </a:prstGeom>
          <a:ln w="3175" cap="flat">
            <a:solidFill>
              <a:srgbClr val="7F7F7F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1A79224-4238-47EE-93CC-EDAFE7C9379E}"/>
              </a:ext>
            </a:extLst>
          </p:cNvPr>
          <p:cNvCxnSpPr>
            <a:cxnSpLocks/>
          </p:cNvCxnSpPr>
          <p:nvPr/>
        </p:nvCxnSpPr>
        <p:spPr>
          <a:xfrm>
            <a:off x="5494564" y="796220"/>
            <a:ext cx="129295" cy="4981125"/>
          </a:xfrm>
          <a:prstGeom prst="line">
            <a:avLst/>
          </a:prstGeom>
          <a:ln w="12700" cap="flat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FC3CEE1-0DC8-4EE0-AE07-3961D630F5C0}"/>
              </a:ext>
            </a:extLst>
          </p:cNvPr>
          <p:cNvSpPr>
            <a:spLocks/>
          </p:cNvSpPr>
          <p:nvPr/>
        </p:nvSpPr>
        <p:spPr>
          <a:xfrm>
            <a:off x="554736" y="726465"/>
            <a:ext cx="779543" cy="2263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302" tIns="3302" rIns="330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007C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Tiempo fin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A7943-B415-445D-9AD8-97A00B8E3C59}"/>
              </a:ext>
            </a:extLst>
          </p:cNvPr>
          <p:cNvSpPr>
            <a:spLocks/>
          </p:cNvSpPr>
          <p:nvPr/>
        </p:nvSpPr>
        <p:spPr>
          <a:xfrm>
            <a:off x="4257569" y="726465"/>
            <a:ext cx="1119153" cy="21877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3302" tIns="3302" rIns="3302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007C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601B9D-1DA3-4062-ACDA-51D489B28B27}"/>
              </a:ext>
            </a:extLst>
          </p:cNvPr>
          <p:cNvSpPr>
            <a:spLocks/>
          </p:cNvSpPr>
          <p:nvPr/>
        </p:nvSpPr>
        <p:spPr>
          <a:xfrm>
            <a:off x="1691337" y="726465"/>
            <a:ext cx="2318706" cy="21877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02" tIns="3302" rIns="3302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007C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Agenda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D84E61-65BC-49BE-BDCE-A92D54451158}"/>
              </a:ext>
            </a:extLst>
          </p:cNvPr>
          <p:cNvSpPr>
            <a:spLocks/>
          </p:cNvSpPr>
          <p:nvPr/>
        </p:nvSpPr>
        <p:spPr>
          <a:xfrm>
            <a:off x="554736" y="1079275"/>
            <a:ext cx="747468" cy="21877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02" tIns="3302" rIns="3302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0:02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7A9D6D-31E2-4F06-BCA3-1E399FFD704B}"/>
              </a:ext>
            </a:extLst>
          </p:cNvPr>
          <p:cNvSpPr>
            <a:spLocks/>
          </p:cNvSpPr>
          <p:nvPr/>
        </p:nvSpPr>
        <p:spPr>
          <a:xfrm>
            <a:off x="1691337" y="1081065"/>
            <a:ext cx="2423047" cy="17261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02" tIns="3302" rIns="3302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Reglas de la reunión y agenda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6818D9-1A34-4892-822F-D232A00B9156}"/>
              </a:ext>
            </a:extLst>
          </p:cNvPr>
          <p:cNvSpPr>
            <a:spLocks/>
          </p:cNvSpPr>
          <p:nvPr/>
        </p:nvSpPr>
        <p:spPr>
          <a:xfrm>
            <a:off x="554736" y="1614001"/>
            <a:ext cx="747468" cy="22185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0:10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780FF7-E4C1-48DD-8625-4E674C7F7901}"/>
              </a:ext>
            </a:extLst>
          </p:cNvPr>
          <p:cNvSpPr>
            <a:spLocks/>
          </p:cNvSpPr>
          <p:nvPr/>
        </p:nvSpPr>
        <p:spPr>
          <a:xfrm>
            <a:off x="1691337" y="1617579"/>
            <a:ext cx="2423047" cy="175687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Revisión de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acciones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abiertas previas</a:t>
            </a:r>
          </a:p>
        </p:txBody>
      </p:sp>
      <p:cxnSp>
        <p:nvCxnSpPr>
          <p:cNvPr id="17" name="LineContentSeparatorDefault 67">
            <a:extLst>
              <a:ext uri="{FF2B5EF4-FFF2-40B4-BE49-F238E27FC236}">
                <a16:creationId xmlns:a16="http://schemas.microsoft.com/office/drawing/2014/main" id="{3A30A850-872B-4A89-BBB0-F01E731A7BA5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54736" y="995280"/>
            <a:ext cx="4854103" cy="0"/>
          </a:xfrm>
          <a:prstGeom prst="straightConnector1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279CD3C-D9BA-40C9-90D0-FED14D8188F1}"/>
              </a:ext>
            </a:extLst>
          </p:cNvPr>
          <p:cNvGrpSpPr/>
          <p:nvPr/>
        </p:nvGrpSpPr>
        <p:grpSpPr>
          <a:xfrm>
            <a:off x="554736" y="1516673"/>
            <a:ext cx="3547817" cy="542289"/>
            <a:chOff x="554736" y="2296160"/>
            <a:chExt cx="4708144" cy="542289"/>
          </a:xfrm>
        </p:grpSpPr>
        <p:cxnSp>
          <p:nvCxnSpPr>
            <p:cNvPr id="16" name="LineContentSeparatorDefault 67">
              <a:extLst>
                <a:ext uri="{FF2B5EF4-FFF2-40B4-BE49-F238E27FC236}">
                  <a16:creationId xmlns:a16="http://schemas.microsoft.com/office/drawing/2014/main" id="{D3BAA79C-42FF-4C4B-BA16-02440C75310F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>
            <a:xfrm flipV="1">
              <a:off x="554736" y="2296160"/>
              <a:ext cx="4708144" cy="909"/>
            </a:xfrm>
            <a:prstGeom prst="straightConnector1">
              <a:avLst/>
            </a:prstGeom>
            <a:ln w="3175" cap="flat">
              <a:solidFill>
                <a:srgbClr val="7F7F7F"/>
              </a:solidFill>
              <a:prstDash val="sysDot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LineContentSeparatorDefault 67">
              <a:extLst>
                <a:ext uri="{FF2B5EF4-FFF2-40B4-BE49-F238E27FC236}">
                  <a16:creationId xmlns:a16="http://schemas.microsoft.com/office/drawing/2014/main" id="{4641252B-4418-431C-BE31-6757DC1EE6A2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>
            <a:xfrm>
              <a:off x="554736" y="2838449"/>
              <a:ext cx="4705241" cy="0"/>
            </a:xfrm>
            <a:prstGeom prst="straightConnector1">
              <a:avLst/>
            </a:prstGeom>
            <a:ln w="3175" cap="flat">
              <a:solidFill>
                <a:srgbClr val="7F7F7F"/>
              </a:solidFill>
              <a:prstDash val="sysDot"/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LineContentSeparatorDefault 67">
            <a:extLst>
              <a:ext uri="{FF2B5EF4-FFF2-40B4-BE49-F238E27FC236}">
                <a16:creationId xmlns:a16="http://schemas.microsoft.com/office/drawing/2014/main" id="{19667FC7-B06C-4FA4-966F-D85ED8AF8E88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498069" y="2844827"/>
            <a:ext cx="4705241" cy="0"/>
          </a:xfrm>
          <a:prstGeom prst="straightConnector1">
            <a:avLst/>
          </a:prstGeom>
          <a:ln w="3175" cap="flat">
            <a:solidFill>
              <a:srgbClr val="7F7F7F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E27D4500-A89A-401D-BD13-98EF9811DFC0}"/>
              </a:ext>
            </a:extLst>
          </p:cNvPr>
          <p:cNvSpPr>
            <a:spLocks/>
          </p:cNvSpPr>
          <p:nvPr/>
        </p:nvSpPr>
        <p:spPr>
          <a:xfrm>
            <a:off x="1677318" y="2125481"/>
            <a:ext cx="2423047" cy="34496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Situaciones de abastecimiento de insumos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42AEA60-F8CE-4266-A2A1-3338FB212312}"/>
              </a:ext>
            </a:extLst>
          </p:cNvPr>
          <p:cNvSpPr>
            <a:spLocks/>
          </p:cNvSpPr>
          <p:nvPr/>
        </p:nvSpPr>
        <p:spPr>
          <a:xfrm>
            <a:off x="4276433" y="2144636"/>
            <a:ext cx="1204112" cy="34496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Compras Local/</a:t>
            </a:r>
            <a:r>
              <a:rPr kumimoji="0" lang="es-E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corp</a:t>
            </a:r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5" name="4. Footnote">
            <a:extLst>
              <a:ext uri="{FF2B5EF4-FFF2-40B4-BE49-F238E27FC236}">
                <a16:creationId xmlns:a16="http://schemas.microsoft.com/office/drawing/2014/main" id="{62167EA8-1D49-4ECF-A7B5-7FD15C303D9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2869" y="5955391"/>
            <a:ext cx="9326880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03200" marR="0" lvl="0" indent="-212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1.	Para COL-SCA, persona responsable de planificar las maquilas</a:t>
            </a:r>
          </a:p>
          <a:p>
            <a:pPr marL="203200" marR="0" lvl="0" indent="-212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2.	Prio 2, tras URU-MPH y DOM-ROW</a:t>
            </a:r>
          </a:p>
        </p:txBody>
      </p:sp>
      <p:sp>
        <p:nvSpPr>
          <p:cNvPr id="56" name="3. Unit of measure">
            <a:extLst>
              <a:ext uri="{FF2B5EF4-FFF2-40B4-BE49-F238E27FC236}">
                <a16:creationId xmlns:a16="http://schemas.microsoft.com/office/drawing/2014/main" id="{A8E4B0B3-B678-4A0B-A914-6B75FE018B8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8496" y="271319"/>
            <a:ext cx="11506503" cy="2159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b="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defRPr>
            </a:lvl1pPr>
            <a:lvl2pPr marL="173038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Reunión mensual de S&amp;OP de suministro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F7CDC0-10A0-475E-AF0D-FE9B571F8085}"/>
              </a:ext>
            </a:extLst>
          </p:cNvPr>
          <p:cNvSpPr>
            <a:spLocks/>
          </p:cNvSpPr>
          <p:nvPr/>
        </p:nvSpPr>
        <p:spPr>
          <a:xfrm>
            <a:off x="554736" y="2163226"/>
            <a:ext cx="747468" cy="22185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0:20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BB4381-EDA9-4171-8BB5-2E275595784F}"/>
              </a:ext>
            </a:extLst>
          </p:cNvPr>
          <p:cNvSpPr>
            <a:spLocks/>
          </p:cNvSpPr>
          <p:nvPr/>
        </p:nvSpPr>
        <p:spPr>
          <a:xfrm>
            <a:off x="4257569" y="1086083"/>
            <a:ext cx="1204112" cy="34496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Ejecutivo de cuenta Supply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FC8DF4-07ED-487E-969F-B89DBCB4D930}"/>
              </a:ext>
            </a:extLst>
          </p:cNvPr>
          <p:cNvSpPr>
            <a:spLocks/>
          </p:cNvSpPr>
          <p:nvPr/>
        </p:nvSpPr>
        <p:spPr>
          <a:xfrm>
            <a:off x="1621951" y="3134453"/>
            <a:ext cx="2423047" cy="34496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Revisión de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tendencia de </a:t>
            </a:r>
            <a:r>
              <a:rPr kumimoji="0" lang="es-ES" sz="11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KPIs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(BO, adherencia a la producción y OTIF)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1D7FC9-3E8A-47F6-B2D8-2B94E5FD3116}"/>
              </a:ext>
            </a:extLst>
          </p:cNvPr>
          <p:cNvSpPr>
            <a:spLocks/>
          </p:cNvSpPr>
          <p:nvPr/>
        </p:nvSpPr>
        <p:spPr>
          <a:xfrm>
            <a:off x="577412" y="3451487"/>
            <a:ext cx="747468" cy="22185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0:35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EA4037-70D5-4460-92A1-A64C470C5E94}"/>
              </a:ext>
            </a:extLst>
          </p:cNvPr>
          <p:cNvSpPr>
            <a:spLocks/>
          </p:cNvSpPr>
          <p:nvPr/>
        </p:nvSpPr>
        <p:spPr>
          <a:xfrm>
            <a:off x="4303648" y="3616173"/>
            <a:ext cx="1024424" cy="34496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Planificador de Planta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5BC91C-5A43-4492-A995-E7AC27E133C9}"/>
              </a:ext>
            </a:extLst>
          </p:cNvPr>
          <p:cNvSpPr>
            <a:spLocks/>
          </p:cNvSpPr>
          <p:nvPr/>
        </p:nvSpPr>
        <p:spPr>
          <a:xfrm>
            <a:off x="1639870" y="3685322"/>
            <a:ext cx="2617699" cy="1175961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Revisión de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restricciones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 partir del nivel de ocupación de n+3 a n+12 y definir: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904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Ajustes de capacidad (Planta)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9045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Repriorización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del suministro a la demanda (SC)</a:t>
            </a:r>
          </a:p>
        </p:txBody>
      </p:sp>
      <p:grpSp>
        <p:nvGrpSpPr>
          <p:cNvPr id="75" name="CustomIcon">
            <a:extLst>
              <a:ext uri="{FF2B5EF4-FFF2-40B4-BE49-F238E27FC236}">
                <a16:creationId xmlns:a16="http://schemas.microsoft.com/office/drawing/2014/main" id="{302B1698-6EBF-43E3-89B6-21946F9CE18E}"/>
              </a:ext>
            </a:extLst>
          </p:cNvPr>
          <p:cNvGrpSpPr>
            <a:grpSpLocks/>
          </p:cNvGrpSpPr>
          <p:nvPr>
            <p:custDataLst>
              <p:tags r:id="rId6"/>
            </p:custDataLst>
          </p:nvPr>
        </p:nvGrpSpPr>
        <p:grpSpPr>
          <a:xfrm>
            <a:off x="6553783" y="625323"/>
            <a:ext cx="330979" cy="330979"/>
            <a:chOff x="-205105" y="-205105"/>
            <a:chExt cx="1019810" cy="101981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7DE6F2C-B46F-4FA9-A7D2-4FC273F569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lt1"/>
            </a:solidFill>
            <a:ln w="6350" cap="sq">
              <a:pattFill prst="solidDmnd">
                <a:fgClr>
                  <a:srgbClr val="009045"/>
                </a:fgClr>
                <a:bgClr>
                  <a:srgbClr val="009045"/>
                </a:bgClr>
              </a:patt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12A488AD-AA7D-4F54-920B-2328DE82C4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81" name="CustomIcon">
            <a:extLst>
              <a:ext uri="{FF2B5EF4-FFF2-40B4-BE49-F238E27FC236}">
                <a16:creationId xmlns:a16="http://schemas.microsoft.com/office/drawing/2014/main" id="{93E29CC5-D188-4349-B971-8D4EEDBBB63F}"/>
              </a:ext>
            </a:extLst>
          </p:cNvPr>
          <p:cNvGrpSpPr>
            <a:grpSpLocks/>
          </p:cNvGrpSpPr>
          <p:nvPr>
            <p:custDataLst>
              <p:tags r:id="rId7"/>
            </p:custDataLst>
          </p:nvPr>
        </p:nvGrpSpPr>
        <p:grpSpPr>
          <a:xfrm>
            <a:off x="6824114" y="2103957"/>
            <a:ext cx="330979" cy="330979"/>
            <a:chOff x="-205105" y="-205105"/>
            <a:chExt cx="1019810" cy="1019810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A29AC56-6EF7-46E5-B571-DE20D0D489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lt1"/>
            </a:solidFill>
            <a:ln w="6350" cap="sq">
              <a:pattFill prst="solidDmnd">
                <a:fgClr>
                  <a:srgbClr val="009045"/>
                </a:fgClr>
                <a:bgClr>
                  <a:srgbClr val="009045"/>
                </a:bgClr>
              </a:patt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id="{2B585F07-76CE-4F68-88D7-1F7EEB6DAF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88" name="CustomIcon">
            <a:extLst>
              <a:ext uri="{FF2B5EF4-FFF2-40B4-BE49-F238E27FC236}">
                <a16:creationId xmlns:a16="http://schemas.microsoft.com/office/drawing/2014/main" id="{025A2BCC-AC6A-4CD1-9CD1-DB130DAE88CC}"/>
              </a:ext>
            </a:extLst>
          </p:cNvPr>
          <p:cNvGrpSpPr>
            <a:grpSpLocks/>
          </p:cNvGrpSpPr>
          <p:nvPr>
            <p:custDataLst>
              <p:tags r:id="rId8"/>
            </p:custDataLst>
          </p:nvPr>
        </p:nvGrpSpPr>
        <p:grpSpPr>
          <a:xfrm>
            <a:off x="6264081" y="3604027"/>
            <a:ext cx="330979" cy="330979"/>
            <a:chOff x="-205105" y="-205105"/>
            <a:chExt cx="1019810" cy="101981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A7DD98A-810B-41C0-BE49-0DA745662D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lt1"/>
            </a:solidFill>
            <a:ln w="6350" cap="sq">
              <a:pattFill prst="solidDmnd">
                <a:fgClr>
                  <a:srgbClr val="009045"/>
                </a:fgClr>
                <a:bgClr>
                  <a:srgbClr val="009045"/>
                </a:bgClr>
              </a:patt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5591CB2E-176B-4271-B3E1-9523ED314E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92" name="CustomIcon">
            <a:extLst>
              <a:ext uri="{FF2B5EF4-FFF2-40B4-BE49-F238E27FC236}">
                <a16:creationId xmlns:a16="http://schemas.microsoft.com/office/drawing/2014/main" id="{F094ED3D-AB54-458B-8F75-9F75A5E16429}"/>
              </a:ext>
            </a:extLst>
          </p:cNvPr>
          <p:cNvGrpSpPr>
            <a:grpSpLocks/>
          </p:cNvGrpSpPr>
          <p:nvPr>
            <p:custDataLst>
              <p:tags r:id="rId9"/>
            </p:custDataLst>
          </p:nvPr>
        </p:nvGrpSpPr>
        <p:grpSpPr>
          <a:xfrm>
            <a:off x="6443769" y="4702052"/>
            <a:ext cx="330979" cy="330979"/>
            <a:chOff x="-205105" y="-205105"/>
            <a:chExt cx="1019810" cy="1019810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AD441FD-72A4-402F-B234-15BF382651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lt1"/>
            </a:solidFill>
            <a:ln w="6350" cap="sq">
              <a:pattFill prst="solidDmnd">
                <a:fgClr>
                  <a:srgbClr val="009045"/>
                </a:fgClr>
                <a:bgClr>
                  <a:srgbClr val="009045"/>
                </a:bgClr>
              </a:patt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4804483D-8162-486A-AFAB-0A37B58940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cxnSp>
        <p:nvCxnSpPr>
          <p:cNvPr id="6" name="LineContentSeparatorDefault 67">
            <a:extLst>
              <a:ext uri="{FF2B5EF4-FFF2-40B4-BE49-F238E27FC236}">
                <a16:creationId xmlns:a16="http://schemas.microsoft.com/office/drawing/2014/main" id="{C75244D8-20FB-7826-7686-14E795320BFD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528329" y="5031881"/>
            <a:ext cx="4705241" cy="0"/>
          </a:xfrm>
          <a:prstGeom prst="straightConnector1">
            <a:avLst/>
          </a:prstGeom>
          <a:ln w="3175" cap="flat">
            <a:solidFill>
              <a:srgbClr val="7F7F7F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83">
            <a:extLst>
              <a:ext uri="{FF2B5EF4-FFF2-40B4-BE49-F238E27FC236}">
                <a16:creationId xmlns:a16="http://schemas.microsoft.com/office/drawing/2014/main" id="{F3590533-BB23-795A-42CF-B900A9FA95BC}"/>
              </a:ext>
            </a:extLst>
          </p:cNvPr>
          <p:cNvSpPr>
            <a:spLocks/>
          </p:cNvSpPr>
          <p:nvPr/>
        </p:nvSpPr>
        <p:spPr>
          <a:xfrm>
            <a:off x="528329" y="5083921"/>
            <a:ext cx="747468" cy="22185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1:00</a:t>
            </a:r>
          </a:p>
        </p:txBody>
      </p:sp>
      <p:sp>
        <p:nvSpPr>
          <p:cNvPr id="12" name="Rectangle 84">
            <a:extLst>
              <a:ext uri="{FF2B5EF4-FFF2-40B4-BE49-F238E27FC236}">
                <a16:creationId xmlns:a16="http://schemas.microsoft.com/office/drawing/2014/main" id="{C1E43697-7E51-0CAE-415D-C96557802855}"/>
              </a:ext>
            </a:extLst>
          </p:cNvPr>
          <p:cNvSpPr>
            <a:spLocks/>
          </p:cNvSpPr>
          <p:nvPr/>
        </p:nvSpPr>
        <p:spPr>
          <a:xfrm>
            <a:off x="1664930" y="5087499"/>
            <a:ext cx="2423047" cy="34496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Revisar las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decisiones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s-E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tomadas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 escalarlas si fuese necesario</a:t>
            </a:r>
          </a:p>
        </p:txBody>
      </p:sp>
      <p:sp>
        <p:nvSpPr>
          <p:cNvPr id="14" name="Rectangle 62">
            <a:extLst>
              <a:ext uri="{FF2B5EF4-FFF2-40B4-BE49-F238E27FC236}">
                <a16:creationId xmlns:a16="http://schemas.microsoft.com/office/drawing/2014/main" id="{3F294923-3401-492F-BE59-D1A6690E8769}"/>
              </a:ext>
            </a:extLst>
          </p:cNvPr>
          <p:cNvSpPr>
            <a:spLocks/>
          </p:cNvSpPr>
          <p:nvPr/>
        </p:nvSpPr>
        <p:spPr>
          <a:xfrm>
            <a:off x="4231162" y="5079314"/>
            <a:ext cx="1204112" cy="344964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48" tIns="6348" rIns="6348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Ejecutivo de cuenta Supply</a:t>
            </a:r>
          </a:p>
        </p:txBody>
      </p:sp>
    </p:spTree>
    <p:extLst>
      <p:ext uri="{BB962C8B-B14F-4D97-AF65-F5344CB8AC3E}">
        <p14:creationId xmlns:p14="http://schemas.microsoft.com/office/powerpoint/2010/main" val="11963031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7D1228C6-B3C0-4F1C-83C9-FA37A25A4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0" imgW="395" imgH="396" progId="TCLayout.ActiveDocument.1">
                  <p:embed/>
                </p:oleObj>
              </mc:Choice>
              <mc:Fallback>
                <p:oleObj name="Diapositiva de think-cell" r:id="rId10" imgW="395" imgH="396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7D1228C6-B3C0-4F1C-83C9-FA37A25A4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23119FCB-B0A4-4D84-B1DF-FBA65C68FD7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12046"/>
            <a:ext cx="11083923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t" anchorCtr="0">
            <a:spAutoFit/>
          </a:bodyPr>
          <a:lstStyle/>
          <a:p>
            <a:r>
              <a:rPr lang="es-ES"/>
              <a:t>Back </a:t>
            </a:r>
            <a:r>
              <a:rPr lang="es-ES" err="1"/>
              <a:t>order</a:t>
            </a:r>
            <a:r>
              <a:rPr lang="es-ES"/>
              <a:t> (BO)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CBD11-8601-45A1-9EAD-FF115F2993BB}"/>
              </a:ext>
            </a:extLst>
          </p:cNvPr>
          <p:cNvSpPr txBox="1">
            <a:spLocks/>
          </p:cNvSpPr>
          <p:nvPr/>
        </p:nvSpPr>
        <p:spPr>
          <a:xfrm>
            <a:off x="6376010" y="1333828"/>
            <a:ext cx="5262649" cy="5078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Nivel en el que se utiliza el KPI: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Global, compañías, SKU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E1B31-C31D-4612-AE02-09626E8E7036}"/>
              </a:ext>
            </a:extLst>
          </p:cNvPr>
          <p:cNvSpPr txBox="1">
            <a:spLocks/>
          </p:cNvSpPr>
          <p:nvPr/>
        </p:nvSpPr>
        <p:spPr>
          <a:xfrm>
            <a:off x="6388753" y="2983988"/>
            <a:ext cx="5262649" cy="100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Proceso de recogida de datos y cálculo del KPI: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Analizar número de pedidos no cumplidos y cantidades que estos implican (saldos pendientes al cierre de mes respecto a las órdenes de compra del año móvil en curso)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 back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order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se mide por SKU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4222C-1061-4642-B94E-3B654FF54297}"/>
              </a:ext>
            </a:extLst>
          </p:cNvPr>
          <p:cNvSpPr txBox="1">
            <a:spLocks/>
          </p:cNvSpPr>
          <p:nvPr/>
        </p:nvSpPr>
        <p:spPr>
          <a:xfrm>
            <a:off x="6374617" y="428685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Dueño de KPI: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Departamento de planificación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A2171-BB77-4AAA-B1C9-E96DFF073BE2}"/>
              </a:ext>
            </a:extLst>
          </p:cNvPr>
          <p:cNvSpPr txBox="1">
            <a:spLocks/>
          </p:cNvSpPr>
          <p:nvPr/>
        </p:nvSpPr>
        <p:spPr>
          <a:xfrm>
            <a:off x="6388753" y="5139451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Target objetivo: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≤ 10% (por lo tanto cumplimiento &gt; 90%)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55EC07-C293-447B-9A1E-B2576B52E985}"/>
                  </a:ext>
                </a:extLst>
              </p:cNvPr>
              <p:cNvSpPr txBox="1">
                <a:spLocks/>
              </p:cNvSpPr>
              <p:nvPr>
                <p:custDataLst>
                  <p:tags r:id="rId3"/>
                </p:custDataLst>
              </p:nvPr>
            </p:nvSpPr>
            <p:spPr>
              <a:xfrm>
                <a:off x="6374618" y="2272871"/>
                <a:ext cx="5262649" cy="567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defPPr>
                  <a:defRPr lang="en-US"/>
                </a:defPPr>
                <a:lvl1pPr defTabSz="895350" eaLnBrk="1" hangingPunct="1">
                  <a:buClr>
                    <a:schemeClr val="accent1"/>
                  </a:buClr>
                  <a:buSzPct val="110000"/>
                  <a:buFont typeface="Wingdings" pitchFamily="2" charset="2"/>
                  <a:buNone/>
                  <a:defRPr sz="900" b="0" i="1">
                    <a:latin typeface="Cambria Math"/>
                    <a:cs typeface="Arial" pitchFamily="34" charset="0"/>
                  </a:defRPr>
                </a:lvl1pPr>
                <a:lvl2pPr marL="742950" indent="-285750" defTabSz="895350" eaLnBrk="0" hangingPunct="0">
                  <a:defRPr sz="1000" b="1">
                    <a:latin typeface="Arial" pitchFamily="34" charset="0"/>
                  </a:defRPr>
                </a:lvl2pPr>
                <a:lvl3pPr marL="1143000" indent="-228600" defTabSz="895350" eaLnBrk="0" hangingPunct="0">
                  <a:defRPr sz="1000" b="1">
                    <a:latin typeface="Arial" pitchFamily="34" charset="0"/>
                  </a:defRPr>
                </a:lvl3pPr>
                <a:lvl4pPr marL="1600200" indent="-228600" defTabSz="895350" eaLnBrk="0" hangingPunct="0">
                  <a:defRPr sz="1000" b="1">
                    <a:latin typeface="Arial" pitchFamily="34" charset="0"/>
                  </a:defRPr>
                </a:lvl4pPr>
                <a:lvl5pPr marL="2057400" indent="-228600" defTabSz="895350" eaLnBrk="0" hangingPunct="0">
                  <a:defRPr sz="1000" b="1">
                    <a:latin typeface="Arial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9pPr>
              </a:lstStyle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 typeface="Wingdings" pitchFamily="2" charset="2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</a:rPr>
                        <m:t>𝐵𝑂</m:t>
                      </m:r>
                      <m:r>
                        <a:rPr kumimoji="0" lang="es-E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fPr>
                        <m:num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𝑢𝑛𝑖𝑑𝑎𝑑𝑒𝑠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𝑝𝑒𝑛𝑑𝑖𝑒𝑛𝑡𝑒𝑠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𝑑𝑒𝑙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𝑜𝑑𝑜</m:t>
                          </m:r>
                        </m:num>
                        <m:den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𝑢𝑛𝑖𝑑𝑎𝑑𝑒𝑠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𝑡𝑜𝑡𝑎𝑙𝑒𝑠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𝑑𝑒𝑙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𝑜𝑑𝑜</m:t>
                          </m:r>
                        </m:den>
                      </m:f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 typeface="Wingdings" pitchFamily="2" charset="2"/>
                  <a:buNone/>
                  <a:tabLst/>
                  <a:defRPr/>
                </a:pPr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Arial"/>
                  <a:ea typeface="Cambria" panose="02040503050406030204" pitchFamily="18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55EC07-C293-447B-9A1E-B2576B52E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6374618" y="2272871"/>
                <a:ext cx="5262649" cy="567271"/>
              </a:xfrm>
              <a:prstGeom prst="rect">
                <a:avLst/>
              </a:prstGeom>
              <a:blipFill>
                <a:blip r:embed="rId13"/>
                <a:stretch>
                  <a:fillRect l="-1043" t="-32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U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105B8A8-B820-4943-937E-BD2ABE5B6F26}"/>
              </a:ext>
            </a:extLst>
          </p:cNvPr>
          <p:cNvSpPr txBox="1">
            <a:spLocks/>
          </p:cNvSpPr>
          <p:nvPr/>
        </p:nvSpPr>
        <p:spPr>
          <a:xfrm>
            <a:off x="554733" y="1333828"/>
            <a:ext cx="5617466" cy="169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Definición: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El back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order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(BO) mide las unidades de las órdenes de compra (pedidos de venta en la planta) que todavía no se han satisfecho y tienen vencida la fecha solicitada de entrega.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Se consideran como cumplidas las unidades: facturadas,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pre-facturadas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, reservadas o asignadas al pedido del cliente (ex-Works). Los pedidos que no tengan unidades en algunos de esos estados serán considerados como en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backorder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.</a:t>
            </a:r>
          </a:p>
        </p:txBody>
      </p:sp>
      <p:sp>
        <p:nvSpPr>
          <p:cNvPr id="31" name="Sticky">
            <a:extLst>
              <a:ext uri="{FF2B5EF4-FFF2-40B4-BE49-F238E27FC236}">
                <a16:creationId xmlns:a16="http://schemas.microsoft.com/office/drawing/2014/main" id="{77A9189E-DD1B-4A52-B940-017F63ADCD0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" y="-6822"/>
            <a:ext cx="553971" cy="257115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S&amp;Op</a:t>
            </a:r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5. Source">
            <a:extLst>
              <a:ext uri="{FF2B5EF4-FFF2-40B4-BE49-F238E27FC236}">
                <a16:creationId xmlns:a16="http://schemas.microsoft.com/office/drawing/2014/main" id="{0D438B9F-7DA8-4E42-B3EE-A4475B6DA74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cxnSp>
        <p:nvCxnSpPr>
          <p:cNvPr id="45" name="LineContentSeparatorDefaultVertical 22">
            <a:extLst>
              <a:ext uri="{FF2B5EF4-FFF2-40B4-BE49-F238E27FC236}">
                <a16:creationId xmlns:a16="http://schemas.microsoft.com/office/drawing/2014/main" id="{A5588C02-35F5-4721-A2AD-7CA25201886A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274104" y="1333828"/>
            <a:ext cx="0" cy="4395117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3876E46-97BD-4EB1-8864-35F2976EF2CF}"/>
              </a:ext>
            </a:extLst>
          </p:cNvPr>
          <p:cNvSpPr txBox="1">
            <a:spLocks/>
          </p:cNvSpPr>
          <p:nvPr/>
        </p:nvSpPr>
        <p:spPr>
          <a:xfrm>
            <a:off x="6376010" y="1968344"/>
            <a:ext cx="5262649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Fórmula: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407F1B-299F-45D5-99DA-45AFAEDD6CD9}"/>
              </a:ext>
            </a:extLst>
          </p:cNvPr>
          <p:cNvSpPr txBox="1">
            <a:spLocks/>
          </p:cNvSpPr>
          <p:nvPr/>
        </p:nvSpPr>
        <p:spPr>
          <a:xfrm>
            <a:off x="541989" y="4452322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 terminadas (en porcentaje)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784889-5CB3-496A-95AF-26E741D60EBC}"/>
              </a:ext>
            </a:extLst>
          </p:cNvPr>
          <p:cNvSpPr txBox="1">
            <a:spLocks/>
          </p:cNvSpPr>
          <p:nvPr/>
        </p:nvSpPr>
        <p:spPr>
          <a:xfrm>
            <a:off x="554733" y="3310314"/>
            <a:ext cx="5617466" cy="69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Alcance: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Relevante para producto terminado y muestras médicas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Por SKU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E49523-28D0-4C2F-93CD-2D5CE07A23AF}"/>
              </a:ext>
            </a:extLst>
          </p:cNvPr>
          <p:cNvSpPr txBox="1">
            <a:spLocks/>
          </p:cNvSpPr>
          <p:nvPr/>
        </p:nvSpPr>
        <p:spPr>
          <a:xfrm>
            <a:off x="554733" y="4109507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Fuente de los datos: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ERP de cada Planta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86A390-3373-40EB-B0AC-2BE835A96CF9}"/>
              </a:ext>
            </a:extLst>
          </p:cNvPr>
          <p:cNvSpPr txBox="1">
            <a:spLocks/>
          </p:cNvSpPr>
          <p:nvPr/>
        </p:nvSpPr>
        <p:spPr>
          <a:xfrm>
            <a:off x="554733" y="4755179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Frecuencia de cálculo: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Mensual 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4006B9-A56C-4618-B8E5-B2C372417E3D}"/>
              </a:ext>
            </a:extLst>
          </p:cNvPr>
          <p:cNvSpPr txBox="1">
            <a:spLocks/>
          </p:cNvSpPr>
          <p:nvPr/>
        </p:nvSpPr>
        <p:spPr>
          <a:xfrm>
            <a:off x="554733" y="5097132"/>
            <a:ext cx="5617466" cy="85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Precisión (¿qué puede afectar al resultado?):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Errores en el forecast de demanda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Pico de demanda de ciertos productos (ej. Verano con mucho sol)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Problemas asociados a la producción 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41DD1360-E4F1-8BC6-A2C6-3DF773EFF5AD}"/>
              </a:ext>
            </a:extLst>
          </p:cNvPr>
          <p:cNvSpPr txBox="1">
            <a:spLocks/>
          </p:cNvSpPr>
          <p:nvPr/>
        </p:nvSpPr>
        <p:spPr>
          <a:xfrm>
            <a:off x="6388753" y="468391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Período: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 año móvil (MAT)</a:t>
            </a:r>
          </a:p>
        </p:txBody>
      </p:sp>
      <p:sp>
        <p:nvSpPr>
          <p:cNvPr id="4" name="Sticky">
            <a:extLst>
              <a:ext uri="{FF2B5EF4-FFF2-40B4-BE49-F238E27FC236}">
                <a16:creationId xmlns:a16="http://schemas.microsoft.com/office/drawing/2014/main" id="{265F8653-C2FA-AC04-E63B-8074CBD78DE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338637" y="9421"/>
            <a:ext cx="3667124" cy="202019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Definición frente Manufactura</a:t>
            </a:r>
          </a:p>
        </p:txBody>
      </p:sp>
    </p:spTree>
    <p:extLst>
      <p:ext uri="{BB962C8B-B14F-4D97-AF65-F5344CB8AC3E}">
        <p14:creationId xmlns:p14="http://schemas.microsoft.com/office/powerpoint/2010/main" val="239813890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55FC3111-7AAB-7770-80C5-E40AF9F7BE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8" imgW="378" imgH="379" progId="TCLayout.ActiveDocument.1">
                  <p:embed/>
                </p:oleObj>
              </mc:Choice>
              <mc:Fallback>
                <p:oleObj name="Diapositiva de think-cell" r:id="rId8" imgW="378" imgH="379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55FC3111-7AAB-7770-80C5-E40AF9F7B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3758BAC-D1A6-447D-4757-04189B8E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s-ES"/>
              <a:t>Forward </a:t>
            </a:r>
            <a:r>
              <a:rPr lang="es-ES" err="1"/>
              <a:t>order</a:t>
            </a:r>
            <a:r>
              <a:rPr lang="es-ES"/>
              <a:t> (FO)</a:t>
            </a:r>
            <a:endParaRPr lang="es-UY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6C0EE201-6415-A5FB-56A4-D0F039051177}"/>
              </a:ext>
            </a:extLst>
          </p:cNvPr>
          <p:cNvSpPr txBox="1">
            <a:spLocks/>
          </p:cNvSpPr>
          <p:nvPr/>
        </p:nvSpPr>
        <p:spPr>
          <a:xfrm>
            <a:off x="6376010" y="1333828"/>
            <a:ext cx="5262649" cy="5078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Nivel en el que se utiliza el KPI: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Global, compañías, SKU</a:t>
            </a: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F91A8F7F-DE61-4512-A737-AAADB4CD56D9}"/>
              </a:ext>
            </a:extLst>
          </p:cNvPr>
          <p:cNvSpPr txBox="1">
            <a:spLocks/>
          </p:cNvSpPr>
          <p:nvPr/>
        </p:nvSpPr>
        <p:spPr>
          <a:xfrm>
            <a:off x="6388753" y="3006399"/>
            <a:ext cx="5262649" cy="12234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Proceso de recogida de datos y cálculo del KPI:</a:t>
            </a:r>
          </a:p>
          <a:p>
            <a:pPr marL="173038" marR="0" lvl="1" indent="-16986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Analizar número de pedidos cumplidos por adelantado y cantidades que estos implican (saldos cumplidos al cierre de mes respecto a las órdenes de compra de meses futuros)</a:t>
            </a:r>
          </a:p>
          <a:p>
            <a:pPr marL="173038" marR="0" lvl="1" indent="-16986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 FO se mide por SKU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3038" marR="0" lvl="1" indent="-16986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31">
                <a:extLst>
                  <a:ext uri="{FF2B5EF4-FFF2-40B4-BE49-F238E27FC236}">
                    <a16:creationId xmlns:a16="http://schemas.microsoft.com/office/drawing/2014/main" id="{C89EB5DC-059C-7DEC-02B9-7660447031E6}"/>
                  </a:ext>
                </a:extLst>
              </p:cNvPr>
              <p:cNvSpPr txBox="1">
                <a:spLocks/>
              </p:cNvSpPr>
              <p:nvPr>
                <p:custDataLst>
                  <p:tags r:id="rId2"/>
                </p:custDataLst>
              </p:nvPr>
            </p:nvSpPr>
            <p:spPr>
              <a:xfrm>
                <a:off x="6374617" y="2275346"/>
                <a:ext cx="5262649" cy="747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defPPr>
                  <a:defRPr lang="en-US"/>
                </a:defPPr>
                <a:lvl1pPr defTabSz="895350" eaLnBrk="1" hangingPunct="1">
                  <a:buClr>
                    <a:schemeClr val="accent1"/>
                  </a:buClr>
                  <a:buSzPct val="110000"/>
                  <a:buFont typeface="Wingdings" pitchFamily="2" charset="2"/>
                  <a:buNone/>
                  <a:defRPr sz="900" b="0" i="1">
                    <a:latin typeface="Cambria Math"/>
                    <a:cs typeface="Arial" pitchFamily="34" charset="0"/>
                  </a:defRPr>
                </a:lvl1pPr>
                <a:lvl2pPr marL="742950" indent="-285750" defTabSz="895350" eaLnBrk="0" hangingPunct="0">
                  <a:defRPr sz="1000" b="1">
                    <a:latin typeface="Arial" pitchFamily="34" charset="0"/>
                  </a:defRPr>
                </a:lvl2pPr>
                <a:lvl3pPr marL="1143000" indent="-228600" defTabSz="895350" eaLnBrk="0" hangingPunct="0">
                  <a:defRPr sz="1000" b="1">
                    <a:latin typeface="Arial" pitchFamily="34" charset="0"/>
                  </a:defRPr>
                </a:lvl3pPr>
                <a:lvl4pPr marL="1600200" indent="-228600" defTabSz="895350" eaLnBrk="0" hangingPunct="0">
                  <a:defRPr sz="1000" b="1">
                    <a:latin typeface="Arial" pitchFamily="34" charset="0"/>
                  </a:defRPr>
                </a:lvl4pPr>
                <a:lvl5pPr marL="2057400" indent="-228600" defTabSz="895350" eaLnBrk="0" hangingPunct="0">
                  <a:defRPr sz="1000" b="1">
                    <a:latin typeface="Arial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latin typeface="Arial" pitchFamily="34" charset="0"/>
                  </a:defRPr>
                </a:lvl9pPr>
              </a:lstStyle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 typeface="Wingdings" pitchFamily="2" charset="2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</a:rPr>
                        <m:t>𝐹𝑂</m:t>
                      </m:r>
                      <m:r>
                        <a:rPr kumimoji="0" lang="es-E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fPr>
                        <m:num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𝑢𝑛𝑖𝑑𝑎𝑑𝑒𝑠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𝑒𝑛𝑡𝑟𝑒𝑔𝑎𝑑𝑎𝑠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𝑐𝑜𝑛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𝑎𝑛𝑡𝑖𝑐𝑖𝑝𝑎𝑐𝑖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ó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𝑜𝑑𝑜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𝑓𝑖𝑟𝑚𝑒</m:t>
                          </m:r>
                        </m:num>
                        <m:den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𝑢𝑛𝑖𝑑𝑎𝑑𝑒𝑠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𝑡𝑜𝑡𝑎𝑙𝑒𝑠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𝑑𝑒𝑙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𝑜𝑑𝑜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𝑀𝐴𝑇</m:t>
                          </m:r>
                        </m:den>
                      </m:f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 typeface="Wingdings" pitchFamily="2" charset="2"/>
                  <a:buNone/>
                  <a:tabLst/>
                  <a:defRPr/>
                </a:pPr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Arial"/>
                  <a:ea typeface="Cambria" panose="02040503050406030204" pitchFamily="18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3" name="TextBox 31">
                <a:extLst>
                  <a:ext uri="{FF2B5EF4-FFF2-40B4-BE49-F238E27FC236}">
                    <a16:creationId xmlns:a16="http://schemas.microsoft.com/office/drawing/2014/main" id="{C89EB5DC-059C-7DEC-02B9-766044703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6374617" y="2275346"/>
                <a:ext cx="5262649" cy="747705"/>
              </a:xfrm>
              <a:prstGeom prst="rect">
                <a:avLst/>
              </a:prstGeom>
              <a:blipFill>
                <a:blip r:embed="rId11"/>
                <a:stretch>
                  <a:fillRect l="-1043" r="-6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U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2">
            <a:extLst>
              <a:ext uri="{FF2B5EF4-FFF2-40B4-BE49-F238E27FC236}">
                <a16:creationId xmlns:a16="http://schemas.microsoft.com/office/drawing/2014/main" id="{1BAD8758-EAC5-8A28-FAB7-C243BCE40D8D}"/>
              </a:ext>
            </a:extLst>
          </p:cNvPr>
          <p:cNvSpPr txBox="1">
            <a:spLocks/>
          </p:cNvSpPr>
          <p:nvPr/>
        </p:nvSpPr>
        <p:spPr>
          <a:xfrm>
            <a:off x="554733" y="1333828"/>
            <a:ext cx="5617466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Definición: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El forward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order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(FO) mide las unidades de las órdenes de compra cumplidas (pedidos de venta en la planta) que se han entregado o están disponibles anticipadamente a la fecha solicitada por el cliente.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Se consideran como cumplidas las unidades: facturadas,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pre-facturadas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, reservadas o asignadas al pedido del cliente (ex-Works). </a:t>
            </a:r>
          </a:p>
        </p:txBody>
      </p:sp>
      <p:sp>
        <p:nvSpPr>
          <p:cNvPr id="15" name="5. Source">
            <a:extLst>
              <a:ext uri="{FF2B5EF4-FFF2-40B4-BE49-F238E27FC236}">
                <a16:creationId xmlns:a16="http://schemas.microsoft.com/office/drawing/2014/main" id="{6A6B834A-95D0-3BDD-B4E0-3AFDE867ED7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cxnSp>
        <p:nvCxnSpPr>
          <p:cNvPr id="17" name="LineContentSeparatorDefaultVertical 22">
            <a:extLst>
              <a:ext uri="{FF2B5EF4-FFF2-40B4-BE49-F238E27FC236}">
                <a16:creationId xmlns:a16="http://schemas.microsoft.com/office/drawing/2014/main" id="{1596AD66-F0E0-818D-CB44-C0C8B3A887D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6274104" y="1333828"/>
            <a:ext cx="0" cy="4395117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47">
            <a:extLst>
              <a:ext uri="{FF2B5EF4-FFF2-40B4-BE49-F238E27FC236}">
                <a16:creationId xmlns:a16="http://schemas.microsoft.com/office/drawing/2014/main" id="{0EE8F244-1295-D994-1E24-0DCE1EE5C5C2}"/>
              </a:ext>
            </a:extLst>
          </p:cNvPr>
          <p:cNvSpPr txBox="1">
            <a:spLocks/>
          </p:cNvSpPr>
          <p:nvPr/>
        </p:nvSpPr>
        <p:spPr>
          <a:xfrm>
            <a:off x="6376010" y="1968344"/>
            <a:ext cx="5262649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Fórmula:</a:t>
            </a:r>
          </a:p>
        </p:txBody>
      </p:sp>
      <p:sp>
        <p:nvSpPr>
          <p:cNvPr id="20" name="TextBox 53">
            <a:extLst>
              <a:ext uri="{FF2B5EF4-FFF2-40B4-BE49-F238E27FC236}">
                <a16:creationId xmlns:a16="http://schemas.microsoft.com/office/drawing/2014/main" id="{4C7DA9A9-7FEB-34C0-BC76-59AEEDEB73FC}"/>
              </a:ext>
            </a:extLst>
          </p:cNvPr>
          <p:cNvSpPr txBox="1">
            <a:spLocks/>
          </p:cNvSpPr>
          <p:nvPr/>
        </p:nvSpPr>
        <p:spPr>
          <a:xfrm>
            <a:off x="541989" y="4194519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 terminadas (en porcentaje)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21" name="TextBox 54">
            <a:extLst>
              <a:ext uri="{FF2B5EF4-FFF2-40B4-BE49-F238E27FC236}">
                <a16:creationId xmlns:a16="http://schemas.microsoft.com/office/drawing/2014/main" id="{0AEA93EB-A150-D290-18A1-6EA2CE1F30B0}"/>
              </a:ext>
            </a:extLst>
          </p:cNvPr>
          <p:cNvSpPr txBox="1">
            <a:spLocks/>
          </p:cNvSpPr>
          <p:nvPr/>
        </p:nvSpPr>
        <p:spPr>
          <a:xfrm>
            <a:off x="541989" y="2943811"/>
            <a:ext cx="5617466" cy="69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Alcance: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Relevante para producto terminado y muestras médicas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Por SKU</a:t>
            </a:r>
          </a:p>
        </p:txBody>
      </p:sp>
      <p:sp>
        <p:nvSpPr>
          <p:cNvPr id="22" name="TextBox 55">
            <a:extLst>
              <a:ext uri="{FF2B5EF4-FFF2-40B4-BE49-F238E27FC236}">
                <a16:creationId xmlns:a16="http://schemas.microsoft.com/office/drawing/2014/main" id="{FC9E7890-9202-8571-C02C-103F64D42CA2}"/>
              </a:ext>
            </a:extLst>
          </p:cNvPr>
          <p:cNvSpPr txBox="1">
            <a:spLocks/>
          </p:cNvSpPr>
          <p:nvPr/>
        </p:nvSpPr>
        <p:spPr>
          <a:xfrm>
            <a:off x="554733" y="3856214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Fuente de los datos: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ERP de cada Planta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23" name="TextBox 57">
            <a:extLst>
              <a:ext uri="{FF2B5EF4-FFF2-40B4-BE49-F238E27FC236}">
                <a16:creationId xmlns:a16="http://schemas.microsoft.com/office/drawing/2014/main" id="{CB3A25A2-C2FF-9935-70B4-44D81CE66B7C}"/>
              </a:ext>
            </a:extLst>
          </p:cNvPr>
          <p:cNvSpPr txBox="1">
            <a:spLocks/>
          </p:cNvSpPr>
          <p:nvPr/>
        </p:nvSpPr>
        <p:spPr>
          <a:xfrm>
            <a:off x="554733" y="4549999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Frecuencia de cálculo: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Mensual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24" name="TextBox 58">
            <a:extLst>
              <a:ext uri="{FF2B5EF4-FFF2-40B4-BE49-F238E27FC236}">
                <a16:creationId xmlns:a16="http://schemas.microsoft.com/office/drawing/2014/main" id="{1683DDA8-DB50-122D-D5D3-1F24AF25CB7C}"/>
              </a:ext>
            </a:extLst>
          </p:cNvPr>
          <p:cNvSpPr txBox="1">
            <a:spLocks/>
          </p:cNvSpPr>
          <p:nvPr/>
        </p:nvSpPr>
        <p:spPr>
          <a:xfrm>
            <a:off x="554733" y="4998613"/>
            <a:ext cx="5617466" cy="103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Precisión (¿qué puede afectar al resultado?):</a:t>
            </a:r>
          </a:p>
          <a:p>
            <a:pPr marL="173038" marR="0" lvl="1" indent="-16986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Errores en el forecast de demanda (necesidad de priorizar pedidos futuros)</a:t>
            </a:r>
          </a:p>
          <a:p>
            <a:pPr marL="173038" marR="0" lvl="1" indent="-16986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Pico de demanda de ciertos productos (ej. Verano con mucho sol)</a:t>
            </a:r>
          </a:p>
          <a:p>
            <a:pPr marL="173038" marR="0" lvl="1" indent="-169863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Cantidad de u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nidades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 por lote productivo mayor que cantidad de unidades solicitadas en los pedidos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51ADB689-5C0E-0A09-75C1-858B119D574B}"/>
              </a:ext>
            </a:extLst>
          </p:cNvPr>
          <p:cNvSpPr txBox="1">
            <a:spLocks/>
          </p:cNvSpPr>
          <p:nvPr/>
        </p:nvSpPr>
        <p:spPr>
          <a:xfrm>
            <a:off x="6374617" y="428685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Dueño de KPI: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Departamento de planificación</a:t>
            </a: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F2ADAF66-A8A1-16A4-E7D9-B4717BE407E2}"/>
              </a:ext>
            </a:extLst>
          </p:cNvPr>
          <p:cNvSpPr txBox="1">
            <a:spLocks/>
          </p:cNvSpPr>
          <p:nvPr/>
        </p:nvSpPr>
        <p:spPr>
          <a:xfrm>
            <a:off x="6388753" y="5139451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Target objetivo: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≤ 10%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82D7C6BB-50E7-BE6A-A423-1DD450C1075D}"/>
              </a:ext>
            </a:extLst>
          </p:cNvPr>
          <p:cNvSpPr txBox="1">
            <a:spLocks/>
          </p:cNvSpPr>
          <p:nvPr/>
        </p:nvSpPr>
        <p:spPr>
          <a:xfrm>
            <a:off x="6388753" y="468391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Período: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 año móvil (MAT) </a:t>
            </a:r>
          </a:p>
        </p:txBody>
      </p:sp>
      <p:sp>
        <p:nvSpPr>
          <p:cNvPr id="5" name="Sticky">
            <a:extLst>
              <a:ext uri="{FF2B5EF4-FFF2-40B4-BE49-F238E27FC236}">
                <a16:creationId xmlns:a16="http://schemas.microsoft.com/office/drawing/2014/main" id="{4FCB3AD6-F11D-0F68-B8C4-CECFD75177A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" y="-6822"/>
            <a:ext cx="553971" cy="257115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S&amp;Op</a:t>
            </a:r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ticky">
            <a:extLst>
              <a:ext uri="{FF2B5EF4-FFF2-40B4-BE49-F238E27FC236}">
                <a16:creationId xmlns:a16="http://schemas.microsoft.com/office/drawing/2014/main" id="{2A857603-5423-BCE9-C9E7-28C05E15028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38637" y="6323"/>
            <a:ext cx="3667124" cy="202019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Definición frente Manufactura</a:t>
            </a:r>
          </a:p>
        </p:txBody>
      </p:sp>
    </p:spTree>
    <p:extLst>
      <p:ext uri="{BB962C8B-B14F-4D97-AF65-F5344CB8AC3E}">
        <p14:creationId xmlns:p14="http://schemas.microsoft.com/office/powerpoint/2010/main" val="22482056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7D1228C6-B3C0-4F1C-83C9-FA37A25A4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9" imgW="395" imgH="396" progId="TCLayout.ActiveDocument.1">
                  <p:embed/>
                </p:oleObj>
              </mc:Choice>
              <mc:Fallback>
                <p:oleObj name="Diapositiva de think-cell" r:id="rId9" imgW="395" imgH="396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7D1228C6-B3C0-4F1C-83C9-FA37A25A4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23119FCB-B0A4-4D84-B1DF-FBA65C68FD7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12046"/>
            <a:ext cx="11083923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t" anchorCtr="0">
            <a:spAutoFit/>
          </a:bodyPr>
          <a:lstStyle/>
          <a:p>
            <a:r>
              <a:rPr lang="es-ES"/>
              <a:t>OTIF Planta (Nivel de servicio)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CBD11-8601-45A1-9EAD-FF115F2993BB}"/>
              </a:ext>
            </a:extLst>
          </p:cNvPr>
          <p:cNvSpPr txBox="1">
            <a:spLocks/>
          </p:cNvSpPr>
          <p:nvPr/>
        </p:nvSpPr>
        <p:spPr>
          <a:xfrm>
            <a:off x="6376010" y="1333828"/>
            <a:ext cx="5262649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Nivel en el que se utiliza el KPI: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Global, compañías, planta, línea de pedido de venta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E1B31-C31D-4612-AE02-09626E8E7036}"/>
              </a:ext>
            </a:extLst>
          </p:cNvPr>
          <p:cNvSpPr txBox="1">
            <a:spLocks/>
          </p:cNvSpPr>
          <p:nvPr/>
        </p:nvSpPr>
        <p:spPr>
          <a:xfrm>
            <a:off x="6374618" y="2995554"/>
            <a:ext cx="5262649" cy="81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Proceso de recogida de datos y cálculo del KPI: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Líneas de pedidos entregadas en mes N. 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 OTIF se mide por líneas de pedido (no por cantidades) y se agrega a nivel compañía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13">
                <a:extLst>
                  <a:ext uri="{FF2B5EF4-FFF2-40B4-BE49-F238E27FC236}">
                    <a16:creationId xmlns:a16="http://schemas.microsoft.com/office/drawing/2014/main" id="{FD7E44A3-B21C-4627-A169-DEE8ED5033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388752" y="2270820"/>
                <a:ext cx="5262649" cy="3826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lvl1pPr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𝑂𝑇𝐼𝐹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=</m:t>
                      </m:r>
                      <m:f>
                        <m:f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#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ó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𝑟𝑑𝑒𝑛𝑒𝑠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𝑒𝑛𝑡𝑟𝑒𝑔𝑎𝑑𝑎𝑠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𝑡𝑖𝑒𝑚𝑝𝑜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𝑦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𝑓𝑜𝑟𝑚𝑎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</m:num>
                        <m:den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#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ó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𝑟𝑑𝑒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𝑛𝑒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𝑠𝑜𝑙𝑖𝑐𝑖𝑡𝑎𝑑𝑎𝑠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</m:den>
                      </m:f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Arial"/>
                  <a:ea typeface="Cambria Math" pitchFamily="18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34" name="Rectangle 13">
                <a:extLst>
                  <a:ext uri="{FF2B5EF4-FFF2-40B4-BE49-F238E27FC236}">
                    <a16:creationId xmlns:a16="http://schemas.microsoft.com/office/drawing/2014/main" id="{FD7E44A3-B21C-4627-A169-DEE8ED503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88752" y="2270820"/>
                <a:ext cx="5262649" cy="382605"/>
              </a:xfrm>
              <a:prstGeom prst="rect">
                <a:avLst/>
              </a:prstGeom>
              <a:blipFill>
                <a:blip r:embed="rId11"/>
                <a:stretch>
                  <a:fillRect l="-1043" t="-4839" b="-193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U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AE2C6A4-7040-4682-BF8F-4CCC622ECA14}"/>
              </a:ext>
            </a:extLst>
          </p:cNvPr>
          <p:cNvSpPr txBox="1">
            <a:spLocks/>
          </p:cNvSpPr>
          <p:nvPr/>
        </p:nvSpPr>
        <p:spPr>
          <a:xfrm>
            <a:off x="553341" y="1333829"/>
            <a:ext cx="5618858" cy="180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Definición: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El OTIF de Planta (</a:t>
            </a:r>
            <a:r>
              <a:rPr kumimoji="0" lang="es-ES" sz="1200" b="0" i="1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On</a:t>
            </a:r>
            <a:r>
              <a:rPr kumimoji="0" lang="es-ES" sz="1200" b="0" i="1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Time In Full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): se define como la cantidad que es entregada liberada en la fecha de cumplimiento solicitada (dentro del mes), calculada como un porcentaje de la cantidad pedida, considerando fecha de liberación.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  <a:sym typeface=""/>
              </a:rPr>
              <a:t>On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  <a:sym typeface=""/>
              </a:rPr>
              <a:t> Time (OT): mide la puntualidad del pedido en % de pedidos puntuales entregados.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Arial" panose="020B0604020202020204" pitchFamily="34" charset="0"/>
                <a:sym typeface=""/>
              </a:rPr>
              <a:t>In Full: mide la eficiencia de los procesos de servicio y logística, medido en % de entregas que cumplen las cantidad solicitada por el cliente (al menos 90%).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Se consideran como cumplidas las unidades: facturadas,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pre-facturadas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, reservadas o asignadas al pedido del cliente (ex-Works).</a:t>
            </a:r>
          </a:p>
        </p:txBody>
      </p:sp>
      <p:sp>
        <p:nvSpPr>
          <p:cNvPr id="32" name="Sticky">
            <a:extLst>
              <a:ext uri="{FF2B5EF4-FFF2-40B4-BE49-F238E27FC236}">
                <a16:creationId xmlns:a16="http://schemas.microsoft.com/office/drawing/2014/main" id="{2FBF7DC7-DC07-4D6E-90FF-CB36EE20472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" y="-6822"/>
            <a:ext cx="553971" cy="257115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S&amp;Op</a:t>
            </a:r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5. Source">
            <a:extLst>
              <a:ext uri="{FF2B5EF4-FFF2-40B4-BE49-F238E27FC236}">
                <a16:creationId xmlns:a16="http://schemas.microsoft.com/office/drawing/2014/main" id="{AF47092A-22BD-4CA1-9404-61C33A07E6D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038" y="6070811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cxnSp>
        <p:nvCxnSpPr>
          <p:cNvPr id="43" name="LineContentSeparatorDefaultVertical 22">
            <a:extLst>
              <a:ext uri="{FF2B5EF4-FFF2-40B4-BE49-F238E27FC236}">
                <a16:creationId xmlns:a16="http://schemas.microsoft.com/office/drawing/2014/main" id="{C6BE24C4-84C0-4142-97C0-5D18BEC5C2C5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274104" y="1333828"/>
            <a:ext cx="0" cy="4395117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7AAB664-4CBB-4A32-A6BC-B72140B3027A}"/>
              </a:ext>
            </a:extLst>
          </p:cNvPr>
          <p:cNvSpPr txBox="1">
            <a:spLocks/>
          </p:cNvSpPr>
          <p:nvPr/>
        </p:nvSpPr>
        <p:spPr>
          <a:xfrm>
            <a:off x="6376008" y="1968344"/>
            <a:ext cx="5262649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Fórmula: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71A8E1-43C8-451B-B5F1-A0A30521A4F9}"/>
              </a:ext>
            </a:extLst>
          </p:cNvPr>
          <p:cNvSpPr txBox="1">
            <a:spLocks/>
          </p:cNvSpPr>
          <p:nvPr/>
        </p:nvSpPr>
        <p:spPr>
          <a:xfrm>
            <a:off x="554733" y="4197112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Fuente de los datos: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ERP de cada Planta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380F98-850A-4235-B9FC-7FC400523CDE}"/>
              </a:ext>
            </a:extLst>
          </p:cNvPr>
          <p:cNvSpPr txBox="1">
            <a:spLocks/>
          </p:cNvSpPr>
          <p:nvPr/>
        </p:nvSpPr>
        <p:spPr>
          <a:xfrm>
            <a:off x="554733" y="5120940"/>
            <a:ext cx="5617466" cy="60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Precisión (¿qué puede afectar al resultado?):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Problemas de producción (ej. Avería en planta)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Errores en el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forecast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 de demanda (necesidad de priorizar pedidos futuros)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CE5C8-B387-4EE2-AE7B-1FFA8A589DBD}"/>
              </a:ext>
            </a:extLst>
          </p:cNvPr>
          <p:cNvSpPr txBox="1">
            <a:spLocks/>
          </p:cNvSpPr>
          <p:nvPr/>
        </p:nvSpPr>
        <p:spPr>
          <a:xfrm>
            <a:off x="554733" y="4510233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Porcentaje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18167B-C32C-433E-AD24-699993BE1AA8}"/>
              </a:ext>
            </a:extLst>
          </p:cNvPr>
          <p:cNvSpPr txBox="1">
            <a:spLocks/>
          </p:cNvSpPr>
          <p:nvPr/>
        </p:nvSpPr>
        <p:spPr>
          <a:xfrm>
            <a:off x="554733" y="4803719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Frecuencia de cálculo: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Mensual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47ED32E7-2A70-5981-7271-63CB893EA52B}"/>
              </a:ext>
            </a:extLst>
          </p:cNvPr>
          <p:cNvSpPr txBox="1">
            <a:spLocks/>
          </p:cNvSpPr>
          <p:nvPr/>
        </p:nvSpPr>
        <p:spPr>
          <a:xfrm>
            <a:off x="6374618" y="4459381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Dueño de KPI: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epartamento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de Planificación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DC914F06-8996-C481-5B5B-5FD9E9090B60}"/>
              </a:ext>
            </a:extLst>
          </p:cNvPr>
          <p:cNvSpPr txBox="1">
            <a:spLocks/>
          </p:cNvSpPr>
          <p:nvPr/>
        </p:nvSpPr>
        <p:spPr>
          <a:xfrm>
            <a:off x="6388753" y="5305941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Target objetivo: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≥ 80%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0556936C-E99C-2C32-2F13-2C0EA72ED572}"/>
              </a:ext>
            </a:extLst>
          </p:cNvPr>
          <p:cNvSpPr txBox="1">
            <a:spLocks/>
          </p:cNvSpPr>
          <p:nvPr/>
        </p:nvSpPr>
        <p:spPr>
          <a:xfrm>
            <a:off x="6400785" y="486000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Período: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mes de cálculo del indicador (N-1)</a:t>
            </a: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599173CE-55A1-73B0-EAA3-F71280750567}"/>
              </a:ext>
            </a:extLst>
          </p:cNvPr>
          <p:cNvSpPr txBox="1">
            <a:spLocks/>
          </p:cNvSpPr>
          <p:nvPr/>
        </p:nvSpPr>
        <p:spPr>
          <a:xfrm>
            <a:off x="554733" y="3398127"/>
            <a:ext cx="5617466" cy="69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Alcance: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Relevante para producto terminado y muestras médicas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Por SKU</a:t>
            </a:r>
          </a:p>
        </p:txBody>
      </p:sp>
      <p:sp>
        <p:nvSpPr>
          <p:cNvPr id="3" name="Sticky">
            <a:extLst>
              <a:ext uri="{FF2B5EF4-FFF2-40B4-BE49-F238E27FC236}">
                <a16:creationId xmlns:a16="http://schemas.microsoft.com/office/drawing/2014/main" id="{E5007E59-ADD2-DAED-CBDA-CFCDB43B218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38637" y="15343"/>
            <a:ext cx="3667124" cy="202019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Definición frente Manufactura</a:t>
            </a:r>
          </a:p>
        </p:txBody>
      </p:sp>
    </p:spTree>
    <p:extLst>
      <p:ext uri="{BB962C8B-B14F-4D97-AF65-F5344CB8AC3E}">
        <p14:creationId xmlns:p14="http://schemas.microsoft.com/office/powerpoint/2010/main" val="22435123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55FC3111-7AAB-7770-80C5-E40AF9F7BE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378" imgH="379" progId="TCLayout.ActiveDocument.1">
                  <p:embed/>
                </p:oleObj>
              </mc:Choice>
              <mc:Fallback>
                <p:oleObj name="Diapositiva de think-cell" r:id="rId7" imgW="378" imgH="379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55FC3111-7AAB-7770-80C5-E40AF9F7B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3758BAC-D1A6-447D-4757-04189B8E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s-ES"/>
              <a:t>Adherencia al plan de producción</a:t>
            </a:r>
            <a:endParaRPr lang="es-UY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130168C-87A7-AE6B-F43C-525C66243765}"/>
              </a:ext>
            </a:extLst>
          </p:cNvPr>
          <p:cNvSpPr txBox="1">
            <a:spLocks/>
          </p:cNvSpPr>
          <p:nvPr/>
        </p:nvSpPr>
        <p:spPr>
          <a:xfrm>
            <a:off x="6376010" y="1333828"/>
            <a:ext cx="5262649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Nivel en el que se utiliza el KPI: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Global, compañías, planta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00BD6EEA-3FB5-C9E6-CDEA-77A5A31D050C}"/>
              </a:ext>
            </a:extLst>
          </p:cNvPr>
          <p:cNvSpPr txBox="1">
            <a:spLocks/>
          </p:cNvSpPr>
          <p:nvPr/>
        </p:nvSpPr>
        <p:spPr>
          <a:xfrm>
            <a:off x="6374616" y="3253367"/>
            <a:ext cx="5262649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Proceso de recogida de datos y cálculo del KPI: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Analizar cuáles lotes no fueron cumplidos (lotes pendientes al cierre de mes respecto a los lotes comprometidos del mes analizado)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3621F7B3-563C-E9BA-A8E8-27179B68108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388753" y="2275004"/>
                <a:ext cx="5803247" cy="75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lvl1pPr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𝐴𝑑h𝑒𝑟𝑒𝑛𝑐𝑖𝑎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𝑎𝑙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𝑝𝑙𝑎𝑛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=</m:t>
                      </m:r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𝑙𝑜𝑡𝑒𝑠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𝑖𝑛𝑖𝑐𝑖𝑎𝑑𝑜𝑠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(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𝑎𝑐𝑜𝑟𝑑𝑎𝑑𝑜𝑠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𝑐𝑜𝑛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𝑆𝑢𝑝𝑝𝑙𝑦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𝐶h𝑎𝑖𝑛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)</m:t>
                          </m:r>
                        </m:num>
                        <m:den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𝑡𝑜𝑡𝑎𝑙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𝑙𝑜𝑡𝑒𝑠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𝑐𝑜𝑛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𝑐𝑜𝑚𝑝𝑟𝑜𝑚𝑖𝑠𝑜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𝑓𝑎𝑏𝑟𝑖𝑐𝑎𝑐𝑖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ó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</m:den>
                      </m:f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Arial"/>
                  <a:ea typeface="Cambria Math" pitchFamily="18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3621F7B3-563C-E9BA-A8E8-27179B6810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88753" y="2275004"/>
                <a:ext cx="5803247" cy="753220"/>
              </a:xfrm>
              <a:prstGeom prst="rect">
                <a:avLst/>
              </a:prstGeom>
              <a:blipFill>
                <a:blip r:embed="rId9"/>
                <a:stretch>
                  <a:fillRect l="-945" b="-88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U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5">
            <a:extLst>
              <a:ext uri="{FF2B5EF4-FFF2-40B4-BE49-F238E27FC236}">
                <a16:creationId xmlns:a16="http://schemas.microsoft.com/office/drawing/2014/main" id="{82CAF128-BAE7-F22E-2FB4-CF0A18C0FB1C}"/>
              </a:ext>
            </a:extLst>
          </p:cNvPr>
          <p:cNvSpPr txBox="1">
            <a:spLocks/>
          </p:cNvSpPr>
          <p:nvPr/>
        </p:nvSpPr>
        <p:spPr>
          <a:xfrm>
            <a:off x="554733" y="1333828"/>
            <a:ext cx="5617466" cy="112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Definición: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La adherencia al plan de producción mide qué cantidad de lotes de los acordados con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Supply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Chain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a fabricar a principio del período, fueron efectivamente iniciados en su fabricación en el período, pudiendo haber terminado o no.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Este indicador es de carácter cualitativo</a:t>
            </a:r>
          </a:p>
        </p:txBody>
      </p:sp>
      <p:sp>
        <p:nvSpPr>
          <p:cNvPr id="13" name="5. Source">
            <a:extLst>
              <a:ext uri="{FF2B5EF4-FFF2-40B4-BE49-F238E27FC236}">
                <a16:creationId xmlns:a16="http://schemas.microsoft.com/office/drawing/2014/main" id="{48ABE746-467B-C8A7-5442-5C17E1A52733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54038" y="6065650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cxnSp>
        <p:nvCxnSpPr>
          <p:cNvPr id="15" name="LineContentSeparatorDefaultVertical 22">
            <a:extLst>
              <a:ext uri="{FF2B5EF4-FFF2-40B4-BE49-F238E27FC236}">
                <a16:creationId xmlns:a16="http://schemas.microsoft.com/office/drawing/2014/main" id="{61EDE899-C071-21F0-6A4C-374C891AE238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6274104" y="1333828"/>
            <a:ext cx="0" cy="4395117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6">
            <a:extLst>
              <a:ext uri="{FF2B5EF4-FFF2-40B4-BE49-F238E27FC236}">
                <a16:creationId xmlns:a16="http://schemas.microsoft.com/office/drawing/2014/main" id="{DD7B519B-7915-EE17-AAE7-862AD27B033C}"/>
              </a:ext>
            </a:extLst>
          </p:cNvPr>
          <p:cNvSpPr txBox="1">
            <a:spLocks/>
          </p:cNvSpPr>
          <p:nvPr/>
        </p:nvSpPr>
        <p:spPr>
          <a:xfrm>
            <a:off x="6376008" y="1968344"/>
            <a:ext cx="5262649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Fórmula:</a:t>
            </a:r>
          </a:p>
        </p:txBody>
      </p:sp>
      <p:sp>
        <p:nvSpPr>
          <p:cNvPr id="17" name="TextBox 52">
            <a:extLst>
              <a:ext uri="{FF2B5EF4-FFF2-40B4-BE49-F238E27FC236}">
                <a16:creationId xmlns:a16="http://schemas.microsoft.com/office/drawing/2014/main" id="{3AA1DC8E-1C55-F65E-808A-39A4006B3457}"/>
              </a:ext>
            </a:extLst>
          </p:cNvPr>
          <p:cNvSpPr txBox="1">
            <a:spLocks/>
          </p:cNvSpPr>
          <p:nvPr/>
        </p:nvSpPr>
        <p:spPr>
          <a:xfrm>
            <a:off x="554733" y="2743239"/>
            <a:ext cx="5617466" cy="45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Alcance: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Productos en todas las formas farmacéuticas correspondientes por Planta </a:t>
            </a:r>
          </a:p>
        </p:txBody>
      </p:sp>
      <p:sp>
        <p:nvSpPr>
          <p:cNvPr id="18" name="TextBox 53">
            <a:extLst>
              <a:ext uri="{FF2B5EF4-FFF2-40B4-BE49-F238E27FC236}">
                <a16:creationId xmlns:a16="http://schemas.microsoft.com/office/drawing/2014/main" id="{1868F177-F281-464B-D5FF-CF47F0866844}"/>
              </a:ext>
            </a:extLst>
          </p:cNvPr>
          <p:cNvSpPr txBox="1">
            <a:spLocks/>
          </p:cNvSpPr>
          <p:nvPr/>
        </p:nvSpPr>
        <p:spPr>
          <a:xfrm>
            <a:off x="554733" y="3577912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Fuente de los datos: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ERP de cada Planta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DC0E21AD-0A1F-66F3-53A5-6E5083ED91AF}"/>
              </a:ext>
            </a:extLst>
          </p:cNvPr>
          <p:cNvSpPr txBox="1">
            <a:spLocks/>
          </p:cNvSpPr>
          <p:nvPr/>
        </p:nvSpPr>
        <p:spPr>
          <a:xfrm>
            <a:off x="554733" y="4743435"/>
            <a:ext cx="5617466" cy="7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Precisión (¿qué puede afectar al resultado?):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Problemas de producción (ej. Avería en planta)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Errores en el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forecast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 de demanda (necesidad de priorizar pedidos no acordados inicialmente)</a:t>
            </a:r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AD183D5D-7E9C-BA56-5B95-809953128234}"/>
              </a:ext>
            </a:extLst>
          </p:cNvPr>
          <p:cNvSpPr txBox="1">
            <a:spLocks/>
          </p:cNvSpPr>
          <p:nvPr/>
        </p:nvSpPr>
        <p:spPr>
          <a:xfrm>
            <a:off x="554733" y="3966420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Porcentaje</a:t>
            </a: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23597B15-9F60-DA4E-BA14-0E2CC2278B19}"/>
              </a:ext>
            </a:extLst>
          </p:cNvPr>
          <p:cNvSpPr txBox="1">
            <a:spLocks/>
          </p:cNvSpPr>
          <p:nvPr/>
        </p:nvSpPr>
        <p:spPr>
          <a:xfrm>
            <a:off x="554733" y="4354928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Frecuencia de cálculo: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Mensual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31A6D692-C7AF-D368-BC1F-8708E5D7F6A1}"/>
              </a:ext>
            </a:extLst>
          </p:cNvPr>
          <p:cNvSpPr txBox="1">
            <a:spLocks/>
          </p:cNvSpPr>
          <p:nvPr/>
        </p:nvSpPr>
        <p:spPr>
          <a:xfrm>
            <a:off x="6374617" y="428685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Dueño de KPI: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Departamento de Planificación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40F46E63-DE46-B25C-C096-E0720FD6F42E}"/>
              </a:ext>
            </a:extLst>
          </p:cNvPr>
          <p:cNvSpPr txBox="1">
            <a:spLocks/>
          </p:cNvSpPr>
          <p:nvPr/>
        </p:nvSpPr>
        <p:spPr>
          <a:xfrm>
            <a:off x="6388753" y="5163515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Target objetivo: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≥ 90%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D2ACE0B-8BE0-B5D4-6987-8A69B5FA1D95}"/>
              </a:ext>
            </a:extLst>
          </p:cNvPr>
          <p:cNvSpPr txBox="1">
            <a:spLocks/>
          </p:cNvSpPr>
          <p:nvPr/>
        </p:nvSpPr>
        <p:spPr>
          <a:xfrm>
            <a:off x="6374616" y="475812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Período: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mes de cálculo del indicador (N-1)</a:t>
            </a:r>
          </a:p>
        </p:txBody>
      </p:sp>
      <p:sp>
        <p:nvSpPr>
          <p:cNvPr id="10" name="Sticky">
            <a:extLst>
              <a:ext uri="{FF2B5EF4-FFF2-40B4-BE49-F238E27FC236}">
                <a16:creationId xmlns:a16="http://schemas.microsoft.com/office/drawing/2014/main" id="{0B0BE5A0-1016-AF8B-34F5-AB477FA0C60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" y="-6822"/>
            <a:ext cx="553971" cy="257115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S&amp;Op</a:t>
            </a:r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ticky">
            <a:extLst>
              <a:ext uri="{FF2B5EF4-FFF2-40B4-BE49-F238E27FC236}">
                <a16:creationId xmlns:a16="http://schemas.microsoft.com/office/drawing/2014/main" id="{BEEE9EC8-18B4-8BC8-BD44-84C6CD46DAD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38637" y="28584"/>
            <a:ext cx="3667124" cy="202019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Definición frente Manufactura</a:t>
            </a:r>
          </a:p>
        </p:txBody>
      </p:sp>
    </p:spTree>
    <p:extLst>
      <p:ext uri="{BB962C8B-B14F-4D97-AF65-F5344CB8AC3E}">
        <p14:creationId xmlns:p14="http://schemas.microsoft.com/office/powerpoint/2010/main" val="32409520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55FC3111-7AAB-7770-80C5-E40AF9F7BE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378" imgH="379" progId="TCLayout.ActiveDocument.1">
                  <p:embed/>
                </p:oleObj>
              </mc:Choice>
              <mc:Fallback>
                <p:oleObj name="Diapositiva de think-cell" r:id="rId7" imgW="378" imgH="379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55FC3111-7AAB-7770-80C5-E40AF9F7B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3758BAC-D1A6-447D-4757-04189B8E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s-ES"/>
              <a:t>Adherencia a la capacidad de producción</a:t>
            </a:r>
            <a:endParaRPr lang="es-UY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130168C-87A7-AE6B-F43C-525C66243765}"/>
              </a:ext>
            </a:extLst>
          </p:cNvPr>
          <p:cNvSpPr txBox="1">
            <a:spLocks/>
          </p:cNvSpPr>
          <p:nvPr/>
        </p:nvSpPr>
        <p:spPr>
          <a:xfrm>
            <a:off x="6376010" y="1333828"/>
            <a:ext cx="5262649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Nivel en el que se utiliza el KPI: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Global, compañías, planta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00BD6EEA-3FB5-C9E6-CDEA-77A5A31D050C}"/>
              </a:ext>
            </a:extLst>
          </p:cNvPr>
          <p:cNvSpPr txBox="1">
            <a:spLocks/>
          </p:cNvSpPr>
          <p:nvPr/>
        </p:nvSpPr>
        <p:spPr>
          <a:xfrm>
            <a:off x="6374617" y="3261189"/>
            <a:ext cx="5262649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Proceso de recogida de datos y cálculo del KPI: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Analizar cantidad de lotes no iniciados (lotes pendientes de iniciar al cierre de mes respecto a los lotes previstos del mes analizado)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3621F7B3-563C-E9BA-A8E8-27179B68108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388753" y="2275004"/>
                <a:ext cx="5803247" cy="75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lvl1pPr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𝐴𝑑h𝑒𝑟𝑒𝑛𝑐𝑖𝑎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𝑎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𝑙𝑎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𝑐𝑎𝑝𝑎𝑐𝑖𝑑𝑎𝑑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𝑑𝑒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𝑝𝑟𝑜𝑑𝑢𝑐𝑐𝑖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ó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𝑛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=</m:t>
                      </m:r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𝑙𝑜𝑡𝑒𝑠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𝑖𝑛𝑖𝑐𝑖𝑎𝑑𝑜𝑠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</m:num>
                        <m:den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𝑙𝑜𝑡𝑒𝑠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𝑝𝑟𝑒𝑣𝑖𝑠𝑡𝑜𝑠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𝑖𝑛𝑖𝑐𝑖𝑎𝑟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</m:den>
                      </m:f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Arial"/>
                  <a:ea typeface="Cambria Math" pitchFamily="18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3621F7B3-563C-E9BA-A8E8-27179B6810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88753" y="2275004"/>
                <a:ext cx="5803247" cy="753220"/>
              </a:xfrm>
              <a:prstGeom prst="rect">
                <a:avLst/>
              </a:prstGeom>
              <a:blipFill>
                <a:blip r:embed="rId9"/>
                <a:stretch>
                  <a:fillRect l="-945" b="-96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U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5">
            <a:extLst>
              <a:ext uri="{FF2B5EF4-FFF2-40B4-BE49-F238E27FC236}">
                <a16:creationId xmlns:a16="http://schemas.microsoft.com/office/drawing/2014/main" id="{82CAF128-BAE7-F22E-2FB4-CF0A18C0FB1C}"/>
              </a:ext>
            </a:extLst>
          </p:cNvPr>
          <p:cNvSpPr txBox="1">
            <a:spLocks/>
          </p:cNvSpPr>
          <p:nvPr/>
        </p:nvSpPr>
        <p:spPr>
          <a:xfrm>
            <a:off x="554733" y="1333828"/>
            <a:ext cx="5617466" cy="138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Definición: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La adherencia a la capacidad de producción mide la cantidad de lotes iniciados en el período vs la cantidad de lotes posibles de iniciar según la capacidad prevista en el período.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Este indicador es de carácter cuantitativo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13" name="5. Source">
            <a:extLst>
              <a:ext uri="{FF2B5EF4-FFF2-40B4-BE49-F238E27FC236}">
                <a16:creationId xmlns:a16="http://schemas.microsoft.com/office/drawing/2014/main" id="{48ABE746-467B-C8A7-5442-5C17E1A52733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cxnSp>
        <p:nvCxnSpPr>
          <p:cNvPr id="15" name="LineContentSeparatorDefaultVertical 22">
            <a:extLst>
              <a:ext uri="{FF2B5EF4-FFF2-40B4-BE49-F238E27FC236}">
                <a16:creationId xmlns:a16="http://schemas.microsoft.com/office/drawing/2014/main" id="{61EDE899-C071-21F0-6A4C-374C891AE238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6274104" y="1333828"/>
            <a:ext cx="0" cy="4395117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6">
            <a:extLst>
              <a:ext uri="{FF2B5EF4-FFF2-40B4-BE49-F238E27FC236}">
                <a16:creationId xmlns:a16="http://schemas.microsoft.com/office/drawing/2014/main" id="{DD7B519B-7915-EE17-AAE7-862AD27B033C}"/>
              </a:ext>
            </a:extLst>
          </p:cNvPr>
          <p:cNvSpPr txBox="1">
            <a:spLocks/>
          </p:cNvSpPr>
          <p:nvPr/>
        </p:nvSpPr>
        <p:spPr>
          <a:xfrm>
            <a:off x="6376008" y="1968344"/>
            <a:ext cx="5262649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Fórmula:</a:t>
            </a:r>
          </a:p>
        </p:txBody>
      </p:sp>
      <p:sp>
        <p:nvSpPr>
          <p:cNvPr id="17" name="TextBox 52">
            <a:extLst>
              <a:ext uri="{FF2B5EF4-FFF2-40B4-BE49-F238E27FC236}">
                <a16:creationId xmlns:a16="http://schemas.microsoft.com/office/drawing/2014/main" id="{3AA1DC8E-1C55-F65E-808A-39A4006B3457}"/>
              </a:ext>
            </a:extLst>
          </p:cNvPr>
          <p:cNvSpPr txBox="1">
            <a:spLocks/>
          </p:cNvSpPr>
          <p:nvPr/>
        </p:nvSpPr>
        <p:spPr>
          <a:xfrm>
            <a:off x="554733" y="2747625"/>
            <a:ext cx="5617466" cy="45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Alcance: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Productos en todas las formas farmacéuticas correspondientes por Planta </a:t>
            </a:r>
          </a:p>
        </p:txBody>
      </p:sp>
      <p:sp>
        <p:nvSpPr>
          <p:cNvPr id="18" name="TextBox 53">
            <a:extLst>
              <a:ext uri="{FF2B5EF4-FFF2-40B4-BE49-F238E27FC236}">
                <a16:creationId xmlns:a16="http://schemas.microsoft.com/office/drawing/2014/main" id="{1868F177-F281-464B-D5FF-CF47F0866844}"/>
              </a:ext>
            </a:extLst>
          </p:cNvPr>
          <p:cNvSpPr txBox="1">
            <a:spLocks/>
          </p:cNvSpPr>
          <p:nvPr/>
        </p:nvSpPr>
        <p:spPr>
          <a:xfrm>
            <a:off x="554733" y="3577912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Fuente de los datos: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ERP de cada Planta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DC0E21AD-0A1F-66F3-53A5-6E5083ED91AF}"/>
              </a:ext>
            </a:extLst>
          </p:cNvPr>
          <p:cNvSpPr txBox="1">
            <a:spLocks/>
          </p:cNvSpPr>
          <p:nvPr/>
        </p:nvSpPr>
        <p:spPr>
          <a:xfrm>
            <a:off x="554733" y="4743435"/>
            <a:ext cx="5617466" cy="60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Precisión (¿qué puede afectar al resultado?):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Problemas de producción (ej. Avería en planta)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Errores en el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forecast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 de demanda (necesidad de priorizar pedidos futuros)</a:t>
            </a:r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AD183D5D-7E9C-BA56-5B95-809953128234}"/>
              </a:ext>
            </a:extLst>
          </p:cNvPr>
          <p:cNvSpPr txBox="1">
            <a:spLocks/>
          </p:cNvSpPr>
          <p:nvPr/>
        </p:nvSpPr>
        <p:spPr>
          <a:xfrm>
            <a:off x="554733" y="3966420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Porcentaje</a:t>
            </a: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23597B15-9F60-DA4E-BA14-0E2CC2278B19}"/>
              </a:ext>
            </a:extLst>
          </p:cNvPr>
          <p:cNvSpPr txBox="1">
            <a:spLocks/>
          </p:cNvSpPr>
          <p:nvPr/>
        </p:nvSpPr>
        <p:spPr>
          <a:xfrm>
            <a:off x="554733" y="4354928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Frecuencia de cálculo: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Mensual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31A6D692-C7AF-D368-BC1F-8708E5D7F6A1}"/>
              </a:ext>
            </a:extLst>
          </p:cNvPr>
          <p:cNvSpPr txBox="1">
            <a:spLocks/>
          </p:cNvSpPr>
          <p:nvPr/>
        </p:nvSpPr>
        <p:spPr>
          <a:xfrm>
            <a:off x="6374617" y="428685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Dueño de KPI: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Departamento de Planificación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40F46E63-DE46-B25C-C096-E0720FD6F42E}"/>
              </a:ext>
            </a:extLst>
          </p:cNvPr>
          <p:cNvSpPr txBox="1">
            <a:spLocks/>
          </p:cNvSpPr>
          <p:nvPr/>
        </p:nvSpPr>
        <p:spPr>
          <a:xfrm>
            <a:off x="6388753" y="5145094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Target objetivo: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≥ 95%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D2ACE0B-8BE0-B5D4-6987-8A69B5FA1D95}"/>
              </a:ext>
            </a:extLst>
          </p:cNvPr>
          <p:cNvSpPr txBox="1">
            <a:spLocks/>
          </p:cNvSpPr>
          <p:nvPr/>
        </p:nvSpPr>
        <p:spPr>
          <a:xfrm>
            <a:off x="6388753" y="4683912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Período: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mes de cálculo del indicador (N-1)</a:t>
            </a:r>
          </a:p>
        </p:txBody>
      </p:sp>
      <p:sp>
        <p:nvSpPr>
          <p:cNvPr id="10" name="Sticky">
            <a:extLst>
              <a:ext uri="{FF2B5EF4-FFF2-40B4-BE49-F238E27FC236}">
                <a16:creationId xmlns:a16="http://schemas.microsoft.com/office/drawing/2014/main" id="{0B0BE5A0-1016-AF8B-34F5-AB477FA0C60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" y="-6822"/>
            <a:ext cx="553971" cy="257115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S&amp;Op</a:t>
            </a:r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ticky">
            <a:extLst>
              <a:ext uri="{FF2B5EF4-FFF2-40B4-BE49-F238E27FC236}">
                <a16:creationId xmlns:a16="http://schemas.microsoft.com/office/drawing/2014/main" id="{C11EFAFB-42D9-9CF7-BEDC-AB17C68EC65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38637" y="24161"/>
            <a:ext cx="3667124" cy="202019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Definición frente Manufactura</a:t>
            </a:r>
          </a:p>
        </p:txBody>
      </p:sp>
    </p:spTree>
    <p:extLst>
      <p:ext uri="{BB962C8B-B14F-4D97-AF65-F5344CB8AC3E}">
        <p14:creationId xmlns:p14="http://schemas.microsoft.com/office/powerpoint/2010/main" val="36658285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o 5" hidden="1">
            <a:extLst>
              <a:ext uri="{FF2B5EF4-FFF2-40B4-BE49-F238E27FC236}">
                <a16:creationId xmlns:a16="http://schemas.microsoft.com/office/drawing/2014/main" id="{55FC3111-7AAB-7770-80C5-E40AF9F7BE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7" imgW="378" imgH="379" progId="TCLayout.ActiveDocument.1">
                  <p:embed/>
                </p:oleObj>
              </mc:Choice>
              <mc:Fallback>
                <p:oleObj name="Diapositiva de think-cell" r:id="rId7" imgW="378" imgH="379" progId="TCLayout.ActiveDocument.1">
                  <p:embed/>
                  <p:pic>
                    <p:nvPicPr>
                      <p:cNvPr id="6" name="Objeto 5" hidden="1">
                        <a:extLst>
                          <a:ext uri="{FF2B5EF4-FFF2-40B4-BE49-F238E27FC236}">
                            <a16:creationId xmlns:a16="http://schemas.microsoft.com/office/drawing/2014/main" id="{55FC3111-7AAB-7770-80C5-E40AF9F7B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3758BAC-D1A6-447D-4757-04189B8E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s-ES"/>
              <a:t>Adherencia a la capacidad de servicios analíticos</a:t>
            </a:r>
            <a:endParaRPr lang="es-UY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130168C-87A7-AE6B-F43C-525C66243765}"/>
              </a:ext>
            </a:extLst>
          </p:cNvPr>
          <p:cNvSpPr txBox="1">
            <a:spLocks/>
          </p:cNvSpPr>
          <p:nvPr/>
        </p:nvSpPr>
        <p:spPr>
          <a:xfrm>
            <a:off x="6376010" y="1333828"/>
            <a:ext cx="5262649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Nivel en el que se utiliza el KPI: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Global, compañías, planta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00BD6EEA-3FB5-C9E6-CDEA-77A5A31D050C}"/>
              </a:ext>
            </a:extLst>
          </p:cNvPr>
          <p:cNvSpPr txBox="1">
            <a:spLocks/>
          </p:cNvSpPr>
          <p:nvPr/>
        </p:nvSpPr>
        <p:spPr>
          <a:xfrm>
            <a:off x="6374617" y="3261189"/>
            <a:ext cx="5262649" cy="1592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Proceso de recogida de datos y cálculo del KPI: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Analizar cantidad de lotes cumplidos (lotes liberados al cierre de mes respecto a los lotes comprometidos a liberar del mes analizado)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Sumar, si corresponde, los lotes equivalentes por cargas adicionales por validación de proceso, limpieza, semiterminados, etc. Se estima que 1 lote de validación de proceso aporta 4 lotes normales adicionales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Dividir por la capacidad comprometida en el periodo, incluyendo las cargas adicionales equivalentes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3621F7B3-563C-E9BA-A8E8-27179B68108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6388753" y="2275004"/>
                <a:ext cx="5803247" cy="75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b">
                <a:spAutoFit/>
              </a:bodyPr>
              <a:lstStyle>
                <a:lvl1pPr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895350" eaLnBrk="0" hangingPunct="0"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89535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𝐴𝑑h𝑒𝑟𝑒𝑛𝑐𝑖𝑎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𝑎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𝑙𝑎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𝑐𝑎𝑝𝑎𝑐𝑖𝑑𝑎𝑠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𝑑𝑒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𝑠𝑒𝑟𝑣𝑖𝑐𝑖𝑜𝑠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𝑎𝑛𝑎𝑙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í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𝑡𝑖𝑐𝑜𝑠</m:t>
                      </m:r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A383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itchFamily="18" charset="0"/>
                          <a:cs typeface="Arial" pitchFamily="34" charset="0"/>
                        </a:rPr>
                        <m:t>=</m:t>
                      </m:r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itchFamily="18" charset="0"/>
                  <a:cs typeface="Arial" pitchFamily="34" charset="0"/>
                </a:endParaRPr>
              </a:p>
              <a:p>
                <a:pPr marL="0" marR="0" lvl="0" indent="0" algn="l" defTabSz="89535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3A3838"/>
                  </a:buClr>
                  <a:buSzPct val="110000"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</m:ctrlPr>
                        </m:fPr>
                        <m:num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𝑙𝑜𝑡𝑒𝑠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𝑝𝑟𝑜𝑑𝑢𝑐𝑡𝑖𝑣𝑜𝑠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𝑦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𝑙𝑜𝑡𝑒𝑠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𝑒𝑞𝑢𝑖𝑣𝑎𝑙𝑒𝑛𝑡𝑒𝑠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𝑙𝑖𝑏𝑒𝑟𝑎𝑑𝑜𝑠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</m:num>
                        <m:den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𝐶𝑎𝑛𝑡𝑖𝑑𝑎𝑑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𝑙𝑜𝑡𝑒𝑠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𝑡𝑜𝑡𝑎𝑙𝑒𝑠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𝑐𝑜𝑛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𝑐𝑜𝑚𝑝𝑟𝑜𝑚𝑖𝑠𝑜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𝑑𝑒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𝑙𝑖𝑏𝑒𝑟𝑎𝑐𝑖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ó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𝑛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𝑒𝑛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𝑒𝑙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 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𝑝𝑒𝑟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í</m:t>
                          </m:r>
                          <m:r>
                            <a:rPr kumimoji="0" lang="es-ES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A383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itchFamily="18" charset="0"/>
                              <a:cs typeface="Arial" pitchFamily="34" charset="0"/>
                            </a:rPr>
                            <m:t>𝑜𝑑𝑜</m:t>
                          </m:r>
                        </m:den>
                      </m:f>
                    </m:oMath>
                  </m:oMathPara>
                </a14:m>
                <a:endParaRPr kumimoji="0" lang="es-ES" sz="1200" b="0" i="1" u="none" strike="noStrike" kern="1200" cap="none" spc="0" normalizeH="0" baseline="0" noProof="0">
                  <a:ln>
                    <a:noFill/>
                  </a:ln>
                  <a:solidFill>
                    <a:srgbClr val="3A3838"/>
                  </a:solidFill>
                  <a:effectLst/>
                  <a:uLnTx/>
                  <a:uFillTx/>
                  <a:latin typeface="Arial"/>
                  <a:ea typeface="Cambria Math" pitchFamily="18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Rectangle 13">
                <a:extLst>
                  <a:ext uri="{FF2B5EF4-FFF2-40B4-BE49-F238E27FC236}">
                    <a16:creationId xmlns:a16="http://schemas.microsoft.com/office/drawing/2014/main" id="{3621F7B3-563C-E9BA-A8E8-27179B6810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88753" y="2275004"/>
                <a:ext cx="5803247" cy="753220"/>
              </a:xfrm>
              <a:prstGeom prst="rect">
                <a:avLst/>
              </a:prstGeom>
              <a:blipFill>
                <a:blip r:embed="rId9"/>
                <a:stretch>
                  <a:fillRect l="-945" b="-96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U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5">
            <a:extLst>
              <a:ext uri="{FF2B5EF4-FFF2-40B4-BE49-F238E27FC236}">
                <a16:creationId xmlns:a16="http://schemas.microsoft.com/office/drawing/2014/main" id="{82CAF128-BAE7-F22E-2FB4-CF0A18C0FB1C}"/>
              </a:ext>
            </a:extLst>
          </p:cNvPr>
          <p:cNvSpPr txBox="1">
            <a:spLocks/>
          </p:cNvSpPr>
          <p:nvPr/>
        </p:nvSpPr>
        <p:spPr>
          <a:xfrm>
            <a:off x="541990" y="1185659"/>
            <a:ext cx="5617466" cy="201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Definición: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La adherencia a la capacidad de servicios analíticos mide la cantidad de lotes liberados/aprobados vs la cantidad de lotes posibles de liberar/aprobar según la capacidad prevista en el período.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Según como se organice SSAA, normalmente se refiere a la capacidad del grupo dedicado a liberación de PT, que también puede dedicar horas a actividades relacionadas, validación de proceso, limpieza, semiterminados, etc.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Este indicador es de carácter cuantitativo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13" name="5. Source">
            <a:extLst>
              <a:ext uri="{FF2B5EF4-FFF2-40B4-BE49-F238E27FC236}">
                <a16:creationId xmlns:a16="http://schemas.microsoft.com/office/drawing/2014/main" id="{48ABE746-467B-C8A7-5442-5C17E1A52733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54734" y="6064114"/>
            <a:ext cx="11083923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5707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cxnSp>
        <p:nvCxnSpPr>
          <p:cNvPr id="15" name="LineContentSeparatorDefaultVertical 22">
            <a:extLst>
              <a:ext uri="{FF2B5EF4-FFF2-40B4-BE49-F238E27FC236}">
                <a16:creationId xmlns:a16="http://schemas.microsoft.com/office/drawing/2014/main" id="{61EDE899-C071-21F0-6A4C-374C891AE238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6274104" y="1333828"/>
            <a:ext cx="0" cy="4395117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6">
            <a:extLst>
              <a:ext uri="{FF2B5EF4-FFF2-40B4-BE49-F238E27FC236}">
                <a16:creationId xmlns:a16="http://schemas.microsoft.com/office/drawing/2014/main" id="{DD7B519B-7915-EE17-AAE7-862AD27B033C}"/>
              </a:ext>
            </a:extLst>
          </p:cNvPr>
          <p:cNvSpPr txBox="1">
            <a:spLocks/>
          </p:cNvSpPr>
          <p:nvPr/>
        </p:nvSpPr>
        <p:spPr>
          <a:xfrm>
            <a:off x="6376008" y="1968344"/>
            <a:ext cx="5262649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Fórmula:</a:t>
            </a:r>
          </a:p>
        </p:txBody>
      </p:sp>
      <p:sp>
        <p:nvSpPr>
          <p:cNvPr id="17" name="TextBox 52">
            <a:extLst>
              <a:ext uri="{FF2B5EF4-FFF2-40B4-BE49-F238E27FC236}">
                <a16:creationId xmlns:a16="http://schemas.microsoft.com/office/drawing/2014/main" id="{3AA1DC8E-1C55-F65E-808A-39A4006B3457}"/>
              </a:ext>
            </a:extLst>
          </p:cNvPr>
          <p:cNvSpPr txBox="1">
            <a:spLocks/>
          </p:cNvSpPr>
          <p:nvPr/>
        </p:nvSpPr>
        <p:spPr>
          <a:xfrm>
            <a:off x="541990" y="3108891"/>
            <a:ext cx="5617466" cy="45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Alcance: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Productos en todas las formas farmacéuticas correspondientes por Planta </a:t>
            </a:r>
          </a:p>
        </p:txBody>
      </p:sp>
      <p:sp>
        <p:nvSpPr>
          <p:cNvPr id="18" name="TextBox 53">
            <a:extLst>
              <a:ext uri="{FF2B5EF4-FFF2-40B4-BE49-F238E27FC236}">
                <a16:creationId xmlns:a16="http://schemas.microsoft.com/office/drawing/2014/main" id="{1868F177-F281-464B-D5FF-CF47F0866844}"/>
              </a:ext>
            </a:extLst>
          </p:cNvPr>
          <p:cNvSpPr txBox="1">
            <a:spLocks/>
          </p:cNvSpPr>
          <p:nvPr/>
        </p:nvSpPr>
        <p:spPr>
          <a:xfrm>
            <a:off x="554733" y="3736936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Fuente de los datos: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 ERP de cada Planta, datos internos de SSAA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highlight>
                <a:srgbClr val="FFFF00"/>
              </a:highlight>
              <a:uLnTx/>
              <a:uFillTx/>
              <a:latin typeface="Arial"/>
              <a:ea typeface="+mn-ea"/>
              <a:cs typeface="Arial" panose="020B0604020202020204" pitchFamily="34" charset="0"/>
              <a:sym typeface=""/>
            </a:endParaRPr>
          </a:p>
        </p:txBody>
      </p:sp>
      <p:sp>
        <p:nvSpPr>
          <p:cNvPr id="19" name="TextBox 54">
            <a:extLst>
              <a:ext uri="{FF2B5EF4-FFF2-40B4-BE49-F238E27FC236}">
                <a16:creationId xmlns:a16="http://schemas.microsoft.com/office/drawing/2014/main" id="{DC0E21AD-0A1F-66F3-53A5-6E5083ED91AF}"/>
              </a:ext>
            </a:extLst>
          </p:cNvPr>
          <p:cNvSpPr txBox="1">
            <a:spLocks/>
          </p:cNvSpPr>
          <p:nvPr/>
        </p:nvSpPr>
        <p:spPr>
          <a:xfrm>
            <a:off x="554733" y="4902459"/>
            <a:ext cx="5617466" cy="1025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Precisión (¿qué puede afectar al resultado?):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Problemas del laboratorio de control de calidad (ej. Avería en equipo)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Errores en el 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forecast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 de demanda (necesidad de priorizar pedidos futuros)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Complejidad de los análisis (activos múltiples, lotes de validación de proceso)</a:t>
            </a:r>
          </a:p>
          <a:p>
            <a:pPr marL="173038" marR="0" lvl="1" indent="-1698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"/>
              </a:rPr>
              <a:t>Repeticiones por FDE</a:t>
            </a:r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AD183D5D-7E9C-BA56-5B95-809953128234}"/>
              </a:ext>
            </a:extLst>
          </p:cNvPr>
          <p:cNvSpPr txBox="1">
            <a:spLocks/>
          </p:cNvSpPr>
          <p:nvPr/>
        </p:nvSpPr>
        <p:spPr>
          <a:xfrm>
            <a:off x="554733" y="4125444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Unidades: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Porcentaje</a:t>
            </a: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23597B15-9F60-DA4E-BA14-0E2CC2278B19}"/>
              </a:ext>
            </a:extLst>
          </p:cNvPr>
          <p:cNvSpPr txBox="1">
            <a:spLocks/>
          </p:cNvSpPr>
          <p:nvPr/>
        </p:nvSpPr>
        <p:spPr>
          <a:xfrm>
            <a:off x="554733" y="4513952"/>
            <a:ext cx="5617466" cy="18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Frecuencia de cálculo: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"/>
              </a:rPr>
              <a:t>Mensual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31A6D692-C7AF-D368-BC1F-8708E5D7F6A1}"/>
              </a:ext>
            </a:extLst>
          </p:cNvPr>
          <p:cNvSpPr txBox="1">
            <a:spLocks/>
          </p:cNvSpPr>
          <p:nvPr/>
        </p:nvSpPr>
        <p:spPr>
          <a:xfrm>
            <a:off x="6374617" y="5022346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Dueño de KPI: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Departamento de S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ervicios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A</a:t>
            </a:r>
            <a:r>
              <a:rPr kumimoji="0" lang="es-ES" sz="1200" b="0" i="0" u="none" strike="noStrike" kern="1200" cap="none" spc="0" normalizeH="0" baseline="0" noProof="0" err="1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nalíticos</a:t>
            </a: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40F46E63-DE46-B25C-C096-E0720FD6F42E}"/>
              </a:ext>
            </a:extLst>
          </p:cNvPr>
          <p:cNvSpPr txBox="1">
            <a:spLocks/>
          </p:cNvSpPr>
          <p:nvPr/>
        </p:nvSpPr>
        <p:spPr>
          <a:xfrm>
            <a:off x="6388753" y="5874945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Target objetivo: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≥ 95%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7D2ACE0B-8BE0-B5D4-6987-8A69B5FA1D95}"/>
              </a:ext>
            </a:extLst>
          </p:cNvPr>
          <p:cNvSpPr txBox="1">
            <a:spLocks/>
          </p:cNvSpPr>
          <p:nvPr/>
        </p:nvSpPr>
        <p:spPr>
          <a:xfrm>
            <a:off x="6388753" y="5419406"/>
            <a:ext cx="526264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173038" lvl="1" indent="-1698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lang="en-US" sz="1600" dirty="0"/>
            </a:lvl2pPr>
            <a:lvl3pPr marL="404813" lvl="2" indent="-1762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3A3838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Período: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mes de cálculo del indicador N-1</a:t>
            </a:r>
          </a:p>
        </p:txBody>
      </p:sp>
      <p:sp>
        <p:nvSpPr>
          <p:cNvPr id="10" name="Sticky">
            <a:extLst>
              <a:ext uri="{FF2B5EF4-FFF2-40B4-BE49-F238E27FC236}">
                <a16:creationId xmlns:a16="http://schemas.microsoft.com/office/drawing/2014/main" id="{0B0BE5A0-1016-AF8B-34F5-AB477FA0C60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" y="-6822"/>
            <a:ext cx="553971" cy="257115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S&amp;Op</a:t>
            </a:r>
            <a:endParaRPr kumimoji="0" lang="es-E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ticky">
            <a:extLst>
              <a:ext uri="{FF2B5EF4-FFF2-40B4-BE49-F238E27FC236}">
                <a16:creationId xmlns:a16="http://schemas.microsoft.com/office/drawing/2014/main" id="{3C8943E7-AB58-FD16-7E42-BB7E118E2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38637" y="7559"/>
            <a:ext cx="3667124" cy="202019"/>
          </a:xfrm>
          <a:prstGeom prst="foldedCorner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Definición frente Manufactura</a:t>
            </a:r>
          </a:p>
        </p:txBody>
      </p:sp>
    </p:spTree>
    <p:extLst>
      <p:ext uri="{BB962C8B-B14F-4D97-AF65-F5344CB8AC3E}">
        <p14:creationId xmlns:p14="http://schemas.microsoft.com/office/powerpoint/2010/main" val="78626708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983" y="3152955"/>
            <a:ext cx="2936033" cy="60399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" y="5840642"/>
            <a:ext cx="12191999" cy="26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8172">
              <a:lnSpc>
                <a:spcPts val="1540"/>
              </a:lnSpc>
            </a:pPr>
            <a:r>
              <a:rPr lang="es-ES" sz="1105">
                <a:solidFill>
                  <a:srgbClr val="018A72"/>
                </a:solidFill>
                <a:latin typeface="Barlow" panose="00000500000000000000" pitchFamily="2" charset="0"/>
              </a:rPr>
              <a:t>www.megalabs.global</a:t>
            </a:r>
            <a:endParaRPr lang="es-UY" sz="1105">
              <a:solidFill>
                <a:srgbClr val="018A72"/>
              </a:solidFill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012670"/>
      </p:ext>
    </p:extLst>
  </p:cSld>
  <p:clrMapOvr>
    <a:masterClrMapping/>
  </p:clrMapOvr>
</p:sld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3. Unit of measur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vCGagJPmUq5CQMpGFtwx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vCGagJPmUq5CQMpGFtwx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vCGagJPmUq5CQMpGFtwxg"/>
</p:tagLst>
</file>

<file path=ppt/tags/tag3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vCGagJPmUq5CQMpGFtwxg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Custom 34">
      <a:dk1>
        <a:srgbClr val="3A3838"/>
      </a:dk1>
      <a:lt1>
        <a:sysClr val="window" lastClr="FFFFFF"/>
      </a:lt1>
      <a:dk2>
        <a:srgbClr val="3A3838"/>
      </a:dk2>
      <a:lt2>
        <a:srgbClr val="E7E6E6"/>
      </a:lt2>
      <a:accent1>
        <a:srgbClr val="009045"/>
      </a:accent1>
      <a:accent2>
        <a:srgbClr val="B2B2B2"/>
      </a:accent2>
      <a:accent3>
        <a:srgbClr val="007C6B"/>
      </a:accent3>
      <a:accent4>
        <a:srgbClr val="757070"/>
      </a:accent4>
      <a:accent5>
        <a:srgbClr val="BFBFBF"/>
      </a:accent5>
      <a:accent6>
        <a:srgbClr val="E7E6E6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2D886E"/>
        </a:accent1>
        <a:accent2>
          <a:srgbClr val="8AB833"/>
        </a:accent2>
        <a:accent3>
          <a:srgbClr val="33A457"/>
        </a:accent3>
        <a:accent4>
          <a:srgbClr val="C0CF3A"/>
        </a:accent4>
        <a:accent5>
          <a:srgbClr val="0989B1"/>
        </a:accent5>
        <a:accent6>
          <a:srgbClr val="4AB5C4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2660ZM_OFF_V1.potx" id="{34D74930-4B9A-4BC3-A7E3-2A27F0ECB758}" vid="{3F455307-4DE2-4FBC-857C-CC3FD6A3B09D}"/>
    </a:ext>
  </a:extLst>
</a:theme>
</file>

<file path=ppt/theme/theme4.xml><?xml version="1.0" encoding="utf-8"?>
<a:theme xmlns:a="http://schemas.openxmlformats.org/drawingml/2006/main" name="2_White">
  <a:themeElements>
    <a:clrScheme name="Custom 34">
      <a:dk1>
        <a:srgbClr val="3A3838"/>
      </a:dk1>
      <a:lt1>
        <a:sysClr val="window" lastClr="FFFFFF"/>
      </a:lt1>
      <a:dk2>
        <a:srgbClr val="3A3838"/>
      </a:dk2>
      <a:lt2>
        <a:srgbClr val="E7E6E6"/>
      </a:lt2>
      <a:accent1>
        <a:srgbClr val="009045"/>
      </a:accent1>
      <a:accent2>
        <a:srgbClr val="B2B2B2"/>
      </a:accent2>
      <a:accent3>
        <a:srgbClr val="007C6B"/>
      </a:accent3>
      <a:accent4>
        <a:srgbClr val="757070"/>
      </a:accent4>
      <a:accent5>
        <a:srgbClr val="BFBFBF"/>
      </a:accent5>
      <a:accent6>
        <a:srgbClr val="E7E6E6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2D886E"/>
        </a:accent1>
        <a:accent2>
          <a:srgbClr val="8AB833"/>
        </a:accent2>
        <a:accent3>
          <a:srgbClr val="33A457"/>
        </a:accent3>
        <a:accent4>
          <a:srgbClr val="C0CF3A"/>
        </a:accent4>
        <a:accent5>
          <a:srgbClr val="0989B1"/>
        </a:accent5>
        <a:accent6>
          <a:srgbClr val="4AB5C4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Template" id="{BFE5B49A-38B6-4D0A-833E-3CCEED903430}" vid="{B5A6BC2E-61DD-4D40-B95C-80B2E2CAE9CD}"/>
    </a:ext>
  </a:extLst>
</a:theme>
</file>